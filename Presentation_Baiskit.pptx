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6858000" cy="12192000"/>
  <p:embeddedFontLst>
    <p:embeddedFont>
      <p:font typeface="Plus Jakarta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BEFEF0-9CDD-437E-AAA2-31E5728366E7}">
  <a:tblStyle styleId="{02BEFEF0-9CDD-437E-AAA2-31E5728366E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usJakarta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lusJakartaSans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lusJakartaSans-italic.fntdata"/><Relationship Id="rId16" Type="http://schemas.openxmlformats.org/officeDocument/2006/relationships/slide" Target="slides/slide11.xml"/><Relationship Id="rId38" Type="http://schemas.openxmlformats.org/officeDocument/2006/relationships/font" Target="fonts/PlusJakartaSa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these snippets with the actual code from your repository if it differs — the examiners may ask you to walk through it line by line.</a:t>
            </a:r>
            <a:endParaRPr/>
          </a:p>
        </p:txBody>
      </p:sp>
      <p:sp>
        <p:nvSpPr>
          <p:cNvPr id="725" name="Google Shape;72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h78cf06db20a754f6_1_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h78cf06db20a754f6_1_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5" name="Google Shape;78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Confirm each status against your own test runs before the review and change any that did not pass.</a:t>
            </a:r>
            <a:endParaRPr/>
          </a:p>
        </p:txBody>
      </p:sp>
      <p:sp>
        <p:nvSpPr>
          <p:cNvPr id="786" name="Google Shape;78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XZLs749iM5qiOWZW6SugBgAHDHY50XO9/view" TargetMode="External"/><Relationship Id="rId5" Type="http://schemas.openxmlformats.org/officeDocument/2006/relationships/image" Target="../media/image2.jpg"/><Relationship Id="rId6" Type="http://schemas.openxmlformats.org/officeDocument/2006/relationships/hyperlink" Target="https://drive.google.com/file/d/1XZLs749iM5qiOWZW6SugBgAHDHY50XO9/view?usp=sharing" TargetMode="External"/><Relationship Id="rId7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403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9509760" y="-1645920"/>
            <a:ext cx="4206240" cy="4206240"/>
          </a:xfrm>
          <a:prstGeom prst="ellipse">
            <a:avLst/>
          </a:prstGeom>
          <a:solidFill>
            <a:srgbClr val="4A33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10515600" y="4114800"/>
            <a:ext cx="3108960" cy="3108960"/>
          </a:xfrm>
          <a:prstGeom prst="ellipse">
            <a:avLst/>
          </a:prstGeom>
          <a:solidFill>
            <a:srgbClr val="C9A184">
              <a:alpha val="2196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77260" y="115645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400"/>
              <a:buFont typeface="Calibri"/>
              <a:buNone/>
            </a:pPr>
            <a:r>
              <a:rPr b="1" lang="en-US" spc="300" sz="14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HYPER-LOCAL REVERSE MARKETPLACE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777240" y="1624340"/>
            <a:ext cx="73152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mbria"/>
              <a:buNone/>
            </a:pPr>
            <a:r>
              <a:rPr b="1" lang="en-US" sz="5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Baiskit</a:t>
            </a:r>
            <a:endParaRPr sz="5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22960" y="2658410"/>
            <a:ext cx="8778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DCCF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E9DCCF"/>
                </a:solidFill>
                <a:latin typeface="Calibri"/>
                <a:ea typeface="Calibri"/>
                <a:cs typeface="Calibri"/>
                <a:sym typeface="Calibri"/>
              </a:rPr>
              <a:t>Compare global prices, connect with local vendors, and shop smarter — all in one basket.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22910" y="3514710"/>
            <a:ext cx="1665900" cy="384000"/>
          </a:xfrm>
          <a:prstGeom prst="roundRect">
            <a:avLst>
              <a:gd fmla="val 50000" name="adj"/>
            </a:avLst>
          </a:prstGeom>
          <a:solidFill>
            <a:srgbClr val="4A3327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22935" y="3514710"/>
            <a:ext cx="166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Global Compare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2671852" y="3514710"/>
            <a:ext cx="1576500" cy="384000"/>
          </a:xfrm>
          <a:prstGeom prst="roundRect">
            <a:avLst>
              <a:gd fmla="val 50000" name="adj"/>
            </a:avLst>
          </a:prstGeom>
          <a:solidFill>
            <a:srgbClr val="4A3327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671877" y="3514710"/>
            <a:ext cx="1576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Vendors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431395" y="3514710"/>
            <a:ext cx="1755600" cy="384000"/>
          </a:xfrm>
          <a:prstGeom prst="roundRect">
            <a:avLst>
              <a:gd fmla="val 50000" name="adj"/>
            </a:avLst>
          </a:prstGeom>
          <a:solidFill>
            <a:srgbClr val="4A3327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431395" y="3514710"/>
            <a:ext cx="1755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Verified Resale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370035" y="3514710"/>
            <a:ext cx="1665900" cy="384000"/>
          </a:xfrm>
          <a:prstGeom prst="roundRect">
            <a:avLst>
              <a:gd fmla="val 50000" name="adj"/>
            </a:avLst>
          </a:prstGeom>
          <a:solidFill>
            <a:srgbClr val="4A3327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370035" y="3514710"/>
            <a:ext cx="1665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Baiskit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4"/>
          <p:cNvCxnSpPr/>
          <p:nvPr/>
        </p:nvCxnSpPr>
        <p:spPr>
          <a:xfrm>
            <a:off x="777260" y="4061370"/>
            <a:ext cx="10515600" cy="0"/>
          </a:xfrm>
          <a:prstGeom prst="straightConnector1">
            <a:avLst/>
          </a:prstGeom>
          <a:noFill/>
          <a:ln cap="flat" cmpd="sng" w="12700">
            <a:solidFill>
              <a:srgbClr val="6E55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3D2C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3D2C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69912" y="4331823"/>
            <a:ext cx="8562900" cy="2343300"/>
          </a:xfrm>
          <a:prstGeom prst="roundRect">
            <a:avLst>
              <a:gd fmla="val 6504" name="adj"/>
            </a:avLst>
          </a:prstGeom>
          <a:solidFill>
            <a:srgbClr val="34302F"/>
          </a:solidFill>
          <a:ln cap="flat" cmpd="sng" w="9525">
            <a:solidFill>
              <a:srgbClr val="3E3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236637" y="4646148"/>
            <a:ext cx="508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 MEMBERS</a:t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1236637" y="4960473"/>
            <a:ext cx="484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AF8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Stuti Shrivastava (25BCE10887)</a:t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1236637" y="5255748"/>
            <a:ext cx="484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AF8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Aryan Awasthi (25BCE11419)</a:t>
            </a: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1236637" y="5551023"/>
            <a:ext cx="484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AF8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Gulshan Nijammudin Shaikh Mansuri (25BCE11141)</a:t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1236637" y="5846298"/>
            <a:ext cx="484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AF8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Tapish Upadhyay (25BCE10583)</a:t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1236637" y="6141573"/>
            <a:ext cx="4845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AF8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Akshara Sharma (25BCE10666)</a:t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5722912" y="4646148"/>
            <a:ext cx="412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 THE GUIDANCE OF</a:t>
            </a:r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5722912" y="4960473"/>
            <a:ext cx="3929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F8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Dr. Mamta Patnakar</a:t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5722912" y="5236698"/>
            <a:ext cx="392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8A2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School of Computer Science &amp; Engineering</a:t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5722912" y="5436723"/>
            <a:ext cx="392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8A29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VIT Bhopal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What Is Baiskit?</a:t>
            </a:r>
            <a:endParaRPr/>
          </a:p>
        </p:txBody>
      </p:sp>
      <p:sp>
        <p:nvSpPr>
          <p:cNvPr id="52" name="Google Shape;52;p5"/>
          <p:cNvSpPr txBox="1"/>
          <p:nvPr/>
        </p:nvSpPr>
        <p:spPr>
          <a:xfrm>
            <a:off x="548640" y="1508760"/>
            <a:ext cx="5486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Baiskit is a </a:t>
            </a:r>
            <a:r>
              <a:rPr b="1" i="0" lang="en-US" sz="13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hyper-local reverse marketplace</a:t>
            </a:r>
            <a:r>
              <a:rPr b="0" i="0" lang="en-US" sz="13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. Instead of a buyer hunting across apps for a deal, the buyer posts what they need, their budget and quantity — a </a:t>
            </a:r>
            <a:r>
              <a:rPr b="1" i="1" lang="en-US" sz="135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baiskit</a:t>
            </a:r>
            <a:r>
              <a:rPr b="0" i="0" lang="en-US" sz="13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 — and nearby shopkeepers, service providers and verified resellers respond with offers, shown alongside global e-commerce prices.</a:t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48640" y="3246120"/>
            <a:ext cx="5486400" cy="749808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749808" y="3392424"/>
            <a:ext cx="457200" cy="4572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749808" y="33924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56" name="Google Shape;56;p5"/>
          <p:cNvSpPr txBox="1"/>
          <p:nvPr/>
        </p:nvSpPr>
        <p:spPr>
          <a:xfrm>
            <a:off x="1417320" y="3337560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Reverse</a:t>
            </a:r>
            <a:endParaRPr/>
          </a:p>
        </p:txBody>
      </p:sp>
      <p:sp>
        <p:nvSpPr>
          <p:cNvPr id="57" name="Google Shape;57;p5"/>
          <p:cNvSpPr txBox="1"/>
          <p:nvPr/>
        </p:nvSpPr>
        <p:spPr>
          <a:xfrm>
            <a:off x="1417320" y="3630168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The buyer states the need and price; sellers come to the buyer</a:t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548640" y="4160520"/>
            <a:ext cx="5486400" cy="749808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749808" y="4306824"/>
            <a:ext cx="457200" cy="4572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749808" y="43068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1417320" y="4251959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Hyper-local</a:t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1417320" y="4544568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Shops, services and resellers within a short radius of the user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48640" y="5074920"/>
            <a:ext cx="5486400" cy="749808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49808" y="5221224"/>
            <a:ext cx="457200" cy="45720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749808" y="52212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1417320" y="5166359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Trust-first</a:t>
            </a: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1417320" y="5458968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Identity-verified sellers carry a visible trust badge</a:t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537960" y="1508760"/>
            <a:ext cx="5074920" cy="4297680"/>
          </a:xfrm>
          <a:prstGeom prst="roundRect">
            <a:avLst>
              <a:gd fmla="val 5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6903720" y="17373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HOW THE FLOW FLIPS</a:t>
            </a:r>
            <a:endParaRPr/>
          </a:p>
        </p:txBody>
      </p:sp>
      <p:sp>
        <p:nvSpPr>
          <p:cNvPr id="70" name="Google Shape;70;p5"/>
          <p:cNvSpPr txBox="1"/>
          <p:nvPr/>
        </p:nvSpPr>
        <p:spPr>
          <a:xfrm>
            <a:off x="6903720" y="21031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Traditional marketplace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903720" y="2560320"/>
            <a:ext cx="1325880" cy="566928"/>
          </a:xfrm>
          <a:prstGeom prst="roundRect">
            <a:avLst>
              <a:gd fmla="val 8000" name="adj"/>
            </a:avLst>
          </a:prstGeom>
          <a:solidFill>
            <a:srgbClr val="4A33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6903720" y="2560320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E3D2C3"/>
                </a:solidFill>
                <a:latin typeface="Calibri"/>
                <a:ea typeface="Calibri"/>
                <a:cs typeface="Calibri"/>
                <a:sym typeface="Calibri"/>
              </a:rPr>
              <a:t>Seller lists</a:t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385048" y="2560320"/>
            <a:ext cx="1325880" cy="566928"/>
          </a:xfrm>
          <a:prstGeom prst="roundRect">
            <a:avLst>
              <a:gd fmla="val 8000" name="adj"/>
            </a:avLst>
          </a:prstGeom>
          <a:solidFill>
            <a:srgbClr val="4A33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8385048" y="2560320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E3D2C3"/>
                </a:solidFill>
                <a:latin typeface="Calibri"/>
                <a:ea typeface="Calibri"/>
                <a:cs typeface="Calibri"/>
                <a:sym typeface="Calibri"/>
              </a:rPr>
              <a:t>Buyer searches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9866376" y="2560320"/>
            <a:ext cx="1325880" cy="566928"/>
          </a:xfrm>
          <a:prstGeom prst="roundRect">
            <a:avLst>
              <a:gd fmla="val 8000" name="adj"/>
            </a:avLst>
          </a:prstGeom>
          <a:solidFill>
            <a:srgbClr val="4A33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9866376" y="2560320"/>
            <a:ext cx="1325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E3D2C3"/>
                </a:solidFill>
                <a:latin typeface="Calibri"/>
                <a:ea typeface="Calibri"/>
                <a:cs typeface="Calibri"/>
                <a:sym typeface="Calibri"/>
              </a:rPr>
              <a:t>Buyer compares</a:t>
            </a:r>
            <a:endParaRPr/>
          </a:p>
        </p:txBody>
      </p:sp>
      <p:sp>
        <p:nvSpPr>
          <p:cNvPr id="77" name="Google Shape;77;p5"/>
          <p:cNvSpPr txBox="1"/>
          <p:nvPr/>
        </p:nvSpPr>
        <p:spPr>
          <a:xfrm>
            <a:off x="6903720" y="342900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Baiskit (reverse)</a:t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903720" y="3886200"/>
            <a:ext cx="1325880" cy="731520"/>
          </a:xfrm>
          <a:prstGeom prst="roundRect">
            <a:avLst>
              <a:gd fmla="val 8000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6976872" y="3886200"/>
            <a:ext cx="117957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Buyer posts need + budget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385048" y="3886200"/>
            <a:ext cx="1325880" cy="731520"/>
          </a:xfrm>
          <a:prstGeom prst="roundRect">
            <a:avLst>
              <a:gd fmla="val 8000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8458200" y="3886200"/>
            <a:ext cx="117957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Nearby sellers offer</a:t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9866376" y="3886200"/>
            <a:ext cx="1325880" cy="731520"/>
          </a:xfrm>
          <a:prstGeom prst="roundRect">
            <a:avLst>
              <a:gd fmla="val 8000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9939528" y="3886200"/>
            <a:ext cx="1179576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match wins</a:t>
            </a:r>
            <a:endParaRPr/>
          </a:p>
        </p:txBody>
      </p:sp>
      <p:sp>
        <p:nvSpPr>
          <p:cNvPr id="84" name="Google Shape;84;p5"/>
          <p:cNvSpPr txBox="1"/>
          <p:nvPr/>
        </p:nvSpPr>
        <p:spPr>
          <a:xfrm>
            <a:off x="6903720" y="4892040"/>
            <a:ext cx="4389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E3D2C3"/>
                </a:solidFill>
                <a:latin typeface="Calibri"/>
                <a:ea typeface="Calibri"/>
                <a:cs typeface="Calibri"/>
                <a:sym typeface="Calibri"/>
              </a:rPr>
              <a:t>Sellers compete for the buyer's request, so the buyer sets the terms instead of the platform.</a:t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Buyers Compare Apps. Never the Whole Market.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548640" y="1508760"/>
            <a:ext cx="5577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Shoppers juggle multiple apps to compare prices, but even then only see big e-commerce platforms — never the local shopkeeper down the street, a nearby service provider, or a trustworthy second-hand seller.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48640" y="2999232"/>
            <a:ext cx="146304" cy="146304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822960" y="288036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Price comparison tools cover only global platforms, not local shops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48640" y="3419856"/>
            <a:ext cx="146304" cy="146304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822960" y="3300984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No way to discover nearby vendors or service providers for the same need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548640" y="3840480"/>
            <a:ext cx="146304" cy="146304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22960" y="372160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Second-hand marketplaces lack trust — anyone can list anything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48640" y="4261104"/>
            <a:ext cx="146304" cy="146304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22960" y="4142232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Buyers can't set a budget and get matched to sellers who fit it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548640" y="4681728"/>
            <a:ext cx="146304" cy="146304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22960" y="4562856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Switching between apps to compare deals wastes time and money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537960" y="1508760"/>
            <a:ext cx="5074920" cy="4023360"/>
          </a:xfrm>
          <a:prstGeom prst="roundRect">
            <a:avLst>
              <a:gd fmla="val 2727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903720" y="17830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100"/>
              <a:buFont typeface="Calibri"/>
              <a:buNone/>
            </a:pPr>
            <a:r>
              <a:rPr b="1" lang="en-US" spc="150" sz="11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SAME NEED, THREE WORLDS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903720" y="205740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Finding a Study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903720" y="2697480"/>
            <a:ext cx="43434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3D2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086600" y="277977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Global Platform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7086600" y="306324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3-day delivery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9052560" y="2834640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₹2,499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903720" y="3538728"/>
            <a:ext cx="43434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3D2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7086600" y="362102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Local Shopkeeper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7086600" y="390448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Pickup today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9052560" y="3675888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₹2,150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903720" y="4379976"/>
            <a:ext cx="43434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3D2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7086600" y="446227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Second-hand Seller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086600" y="4745736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Unverified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9052560" y="4517136"/>
            <a:ext cx="2057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₹1,200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903720" y="51663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No single view brings global, local, and resale prices together.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548640" y="5623560"/>
            <a:ext cx="11109960" cy="777240"/>
          </a:xfrm>
          <a:prstGeom prst="roundRect">
            <a:avLst>
              <a:gd fmla="val 11765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822960" y="562356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Problem:  </a:t>
            </a: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There is no single platform that compares global, local vendor, and verified resale prices while matching buyers to sellers by budget.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Primary Objectives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548640" y="1600200"/>
            <a:ext cx="5349240" cy="1207008"/>
          </a:xfrm>
          <a:prstGeom prst="roundRect">
            <a:avLst>
              <a:gd fmla="val 7576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7724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508760" y="1764792"/>
            <a:ext cx="41605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Aggregate and compare prices from global e-commerce platforms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263640" y="1600200"/>
            <a:ext cx="5349240" cy="1207008"/>
          </a:xfrm>
          <a:prstGeom prst="roundRect">
            <a:avLst>
              <a:gd fmla="val 7576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49224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7223760" y="1764792"/>
            <a:ext cx="41605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Onboard local vendors, shopkeepers &amp; service providers to list prices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548640" y="3017520"/>
            <a:ext cx="5349240" cy="1207008"/>
          </a:xfrm>
          <a:prstGeom prst="roundRect">
            <a:avLst>
              <a:gd fmla="val 7576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777240" y="3246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508760" y="3182112"/>
            <a:ext cx="41605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Enable trusted second-hand selling through user verification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263640" y="3017520"/>
            <a:ext cx="5349240" cy="1207008"/>
          </a:xfrm>
          <a:prstGeom prst="roundRect">
            <a:avLst>
              <a:gd fmla="val 7576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492240" y="3246120"/>
            <a:ext cx="548640" cy="54864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492240" y="3246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223760" y="3182112"/>
            <a:ext cx="41605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Let users set a budget &amp; quantity to get matched sellers via Baiskit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48640" y="4434840"/>
            <a:ext cx="5349240" cy="1207008"/>
          </a:xfrm>
          <a:prstGeom prst="roundRect">
            <a:avLst>
              <a:gd fmla="val 7576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777240" y="4663440"/>
            <a:ext cx="548640" cy="54864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77240" y="4663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508760" y="4599432"/>
            <a:ext cx="41605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Surface nearby offers and deals in real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263640" y="4434840"/>
            <a:ext cx="5349240" cy="1207008"/>
          </a:xfrm>
          <a:prstGeom prst="roundRect">
            <a:avLst>
              <a:gd fmla="val 7576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492240" y="4663440"/>
            <a:ext cx="548640" cy="54864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492240" y="46634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223760" y="4599432"/>
            <a:ext cx="416052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Build a scalable, trust-first social shopping experience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EXISTING WORK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Existing Systems and Their Limitations</a:t>
            </a:r>
            <a:endParaRPr/>
          </a:p>
        </p:txBody>
      </p:sp>
      <p:graphicFrame>
        <p:nvGraphicFramePr>
          <p:cNvPr id="161" name="Google Shape;161;p8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{02BEFEF0-9CDD-437E-AAA2-31E5728366E7}</a:tableStyleId>
              </a:tblPr>
              <a:tblGrid>
                <a:gridCol w="3108950"/>
                <a:gridCol w="3566150"/>
                <a:gridCol w="4389125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EXISTING SYSTEM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DOES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LIMITATION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 / Flipkart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 online catalogues with home delivery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Ignores the local shop next door; buyer cannot name a price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Price-comparison sites (Google Shopping, Smartprix)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Compare one product across online stores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 online sellers only — no local, service or resale prices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OLX / Quikr / Facebook Marketplace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Peer-to-peer classifieds for used goods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 seller verification, so fraud and fake listings are common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Justdial / Urban Company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Directories and bookings for local services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Fixed listings; providers don't compete on a buyer's budget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Quick-commerce (Blinkit, Zepto)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 delivery from dark stores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Platform-owned inventory; independent shopkeepers are left out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2" name="Google Shape;162;p8"/>
          <p:cNvSpPr/>
          <p:nvPr/>
        </p:nvSpPr>
        <p:spPr>
          <a:xfrm>
            <a:off x="548640" y="5212080"/>
            <a:ext cx="11064240" cy="777240"/>
          </a:xfrm>
          <a:prstGeom prst="roundRect">
            <a:avLst>
              <a:gd fmla="val 12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822960" y="521208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F0DCC8"/>
                </a:solidFill>
                <a:latin typeface="Calibri"/>
                <a:ea typeface="Calibri"/>
                <a:cs typeface="Calibri"/>
                <a:sym typeface="Calibri"/>
              </a:rPr>
              <a:t>Gap:  </a:t>
            </a:r>
            <a:r>
              <a:rPr b="0" i="0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existing system lets a buyer post one request and receive competing offers from global, local, service and verified resale sellers together.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PROPOSED 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What Exactly Are We Building?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48640" y="1691640"/>
            <a:ext cx="1737360" cy="685800"/>
          </a:xfrm>
          <a:prstGeom prst="roundRect">
            <a:avLst>
              <a:gd fmla="val 13333" name="adj"/>
            </a:avLst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48640" y="1691640"/>
            <a:ext cx="1737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Shopper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2286000" y="1691640"/>
            <a:ext cx="411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2697480" y="1691640"/>
            <a:ext cx="2743200" cy="685800"/>
          </a:xfrm>
          <a:prstGeom prst="roundRect">
            <a:avLst>
              <a:gd fmla="val 13333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2697480" y="169164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Baiskit Platform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5440680" y="1691640"/>
            <a:ext cx="411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852160" y="1691640"/>
            <a:ext cx="2286000" cy="685800"/>
          </a:xfrm>
          <a:prstGeom prst="roundRect">
            <a:avLst>
              <a:gd fmla="val 13333" name="adj"/>
            </a:avLst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852160" y="169164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Price, Best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Seller — Matched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Proposed System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48640" y="315468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A social shopping platform that provides: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548640" y="3547872"/>
            <a:ext cx="128016" cy="128016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804672" y="34290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30"/>
              <a:buFont typeface="Calibri"/>
              <a:buNone/>
            </a:pPr>
            <a:r>
              <a:rPr lang="en-US" sz="113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Global e-commerce price comparison</a:t>
            </a:r>
            <a:endParaRPr sz="1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429000" y="3547872"/>
            <a:ext cx="128016" cy="128016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3685032" y="34290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30"/>
              <a:buFont typeface="Calibri"/>
              <a:buNone/>
            </a:pPr>
            <a:r>
              <a:rPr lang="en-US" sz="113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Local vendor &amp; shopkeeper price listings</a:t>
            </a:r>
            <a:endParaRPr sz="1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309360" y="3547872"/>
            <a:ext cx="128016" cy="128016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565392" y="34290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30"/>
              <a:buFont typeface="Calibri"/>
              <a:buNone/>
            </a:pPr>
            <a:r>
              <a:rPr lang="en-US" sz="113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Service-provider rate listings (Rapido-style)</a:t>
            </a:r>
            <a:endParaRPr sz="1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9189720" y="3547872"/>
            <a:ext cx="128016" cy="128016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9445752" y="3429000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30"/>
              <a:buFont typeface="Calibri"/>
              <a:buNone/>
            </a:pPr>
            <a:r>
              <a:rPr lang="en-US" sz="113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Verified second-hand marketplace</a:t>
            </a:r>
            <a:endParaRPr sz="1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48640" y="4114800"/>
            <a:ext cx="128016" cy="128016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804672" y="3995928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30"/>
              <a:buFont typeface="Calibri"/>
              <a:buNone/>
            </a:pPr>
            <a:r>
              <a:rPr lang="en-US" sz="113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“Create Baiskit” budget-based matching</a:t>
            </a:r>
            <a:endParaRPr sz="1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429000" y="4114800"/>
            <a:ext cx="128016" cy="128016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3685032" y="3995928"/>
            <a:ext cx="2606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30"/>
              <a:buFont typeface="Calibri"/>
              <a:buNone/>
            </a:pPr>
            <a:r>
              <a:rPr lang="en-US" sz="113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Nearby deals &amp; offers discovery</a:t>
            </a:r>
            <a:endParaRPr sz="11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8915400" y="1691640"/>
            <a:ext cx="2743200" cy="4251960"/>
          </a:xfrm>
          <a:prstGeom prst="roundRect">
            <a:avLst>
              <a:gd fmla="val 4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9125712" y="18745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000"/>
              <a:buFont typeface="Calibri"/>
              <a:buNone/>
            </a:pPr>
            <a:r>
              <a:rPr b="1" lang="en-US" spc="150" sz="10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BAISKIT MATCH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9125712" y="2121408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Study Table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9125712" y="2450592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CCF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9DCCF"/>
                </a:solidFill>
                <a:latin typeface="Calibri"/>
                <a:ea typeface="Calibri"/>
                <a:cs typeface="Calibri"/>
                <a:sym typeface="Calibri"/>
              </a:rPr>
              <a:t>Budget: ₹2,000  ·  Qty: 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9125712" y="2880360"/>
            <a:ext cx="2331720" cy="548640"/>
          </a:xfrm>
          <a:prstGeom prst="roundRect">
            <a:avLst>
              <a:gd fmla="val 11667" name="adj"/>
            </a:avLst>
          </a:prstGeom>
          <a:solidFill>
            <a:srgbClr val="4A33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9253728" y="293522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Shop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9253728" y="3172968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₹1,950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9125712" y="3538728"/>
            <a:ext cx="2331720" cy="548640"/>
          </a:xfrm>
          <a:prstGeom prst="roundRect">
            <a:avLst>
              <a:gd fmla="val 11667" name="adj"/>
            </a:avLst>
          </a:prstGeom>
          <a:solidFill>
            <a:srgbClr val="4A33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9253728" y="359359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Resale (Verified)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9253728" y="3831336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₹1,200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9125712" y="4800600"/>
            <a:ext cx="2331720" cy="502920"/>
          </a:xfrm>
          <a:prstGeom prst="roundRect">
            <a:avLst>
              <a:gd fmla="val 14545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9125712" y="4800600"/>
            <a:ext cx="2331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Contact Best Match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How We Built Baiskit</a:t>
            </a:r>
            <a:endParaRPr/>
          </a:p>
        </p:txBody>
      </p:sp>
      <p:sp>
        <p:nvSpPr>
          <p:cNvPr id="213" name="Google Shape;213;p10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An iterative (Agile) approach: each phase was built, reviewed with our guide, and refined before moving on.</a:t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548640" y="2240280"/>
            <a:ext cx="1719072" cy="242316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731520" y="2423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/>
          </a:p>
        </p:txBody>
      </p:sp>
      <p:sp>
        <p:nvSpPr>
          <p:cNvPr id="217" name="Google Shape;217;p10"/>
          <p:cNvSpPr txBox="1"/>
          <p:nvPr/>
        </p:nvSpPr>
        <p:spPr>
          <a:xfrm>
            <a:off x="731520" y="3108960"/>
            <a:ext cx="13533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Requirement Analysis</a:t>
            </a:r>
            <a:endParaRPr/>
          </a:p>
        </p:txBody>
      </p:sp>
      <p:sp>
        <p:nvSpPr>
          <p:cNvPr id="218" name="Google Shape;218;p10"/>
          <p:cNvSpPr txBox="1"/>
          <p:nvPr/>
        </p:nvSpPr>
        <p:spPr>
          <a:xfrm>
            <a:off x="731520" y="3794760"/>
            <a:ext cx="135331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Surveyed buyers &amp; shopkeepers; mapped vendor categories</a:t>
            </a:r>
            <a:endParaRPr/>
          </a:p>
        </p:txBody>
      </p:sp>
      <p:sp>
        <p:nvSpPr>
          <p:cNvPr id="219" name="Google Shape;219;p10"/>
          <p:cNvSpPr txBox="1"/>
          <p:nvPr/>
        </p:nvSpPr>
        <p:spPr>
          <a:xfrm>
            <a:off x="2249424" y="3337560"/>
            <a:ext cx="18653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2417673" y="2240280"/>
            <a:ext cx="1719072" cy="242316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2600553" y="2423160"/>
            <a:ext cx="502920" cy="502920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2600553" y="2423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2600553" y="3108960"/>
            <a:ext cx="13533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Design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2600553" y="3794760"/>
            <a:ext cx="135331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Wireframes, navigation structure, system architecture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4118457" y="3337560"/>
            <a:ext cx="18653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4286707" y="2240280"/>
            <a:ext cx="1719072" cy="242316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469587" y="2423160"/>
            <a:ext cx="502920" cy="502920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 txBox="1"/>
          <p:nvPr/>
        </p:nvSpPr>
        <p:spPr>
          <a:xfrm>
            <a:off x="4469587" y="2423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/>
          </a:p>
        </p:txBody>
      </p:sp>
      <p:sp>
        <p:nvSpPr>
          <p:cNvPr id="229" name="Google Shape;229;p10"/>
          <p:cNvSpPr txBox="1"/>
          <p:nvPr/>
        </p:nvSpPr>
        <p:spPr>
          <a:xfrm>
            <a:off x="4469587" y="3108960"/>
            <a:ext cx="13533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Module Development</a:t>
            </a:r>
            <a:endParaRPr/>
          </a:p>
        </p:txBody>
      </p:sp>
      <p:sp>
        <p:nvSpPr>
          <p:cNvPr id="230" name="Google Shape;230;p10"/>
          <p:cNvSpPr txBox="1"/>
          <p:nvPr/>
        </p:nvSpPr>
        <p:spPr>
          <a:xfrm>
            <a:off x="4469587" y="3794760"/>
            <a:ext cx="135331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Auth, listings, Create Baiskit, verification, matching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5987491" y="3337560"/>
            <a:ext cx="18653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6155740" y="2240280"/>
            <a:ext cx="1719072" cy="242316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338620" y="2423160"/>
            <a:ext cx="502920" cy="502920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6338620" y="2423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6338620" y="3108960"/>
            <a:ext cx="13533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Integration</a:t>
            </a:r>
            <a:endParaRPr/>
          </a:p>
        </p:txBody>
      </p:sp>
      <p:sp>
        <p:nvSpPr>
          <p:cNvPr id="236" name="Google Shape;236;p10"/>
          <p:cNvSpPr txBox="1"/>
          <p:nvPr/>
        </p:nvSpPr>
        <p:spPr>
          <a:xfrm>
            <a:off x="6338620" y="3794760"/>
            <a:ext cx="135331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Connected front end, REST API, database and services</a:t>
            </a:r>
            <a:endParaRPr/>
          </a:p>
        </p:txBody>
      </p:sp>
      <p:sp>
        <p:nvSpPr>
          <p:cNvPr id="237" name="Google Shape;237;p10"/>
          <p:cNvSpPr txBox="1"/>
          <p:nvPr/>
        </p:nvSpPr>
        <p:spPr>
          <a:xfrm>
            <a:off x="7856524" y="3337560"/>
            <a:ext cx="18653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8024774" y="2240280"/>
            <a:ext cx="1719072" cy="242316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8207654" y="2423160"/>
            <a:ext cx="502920" cy="502920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8207654" y="2423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8207654" y="3108960"/>
            <a:ext cx="13533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Testing</a:t>
            </a:r>
            <a:endParaRPr/>
          </a:p>
        </p:txBody>
      </p:sp>
      <p:sp>
        <p:nvSpPr>
          <p:cNvPr id="242" name="Google Shape;242;p10"/>
          <p:cNvSpPr txBox="1"/>
          <p:nvPr/>
        </p:nvSpPr>
        <p:spPr>
          <a:xfrm>
            <a:off x="8207654" y="3794760"/>
            <a:ext cx="135331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Unit, integration, UI and user-acceptance testing</a:t>
            </a:r>
            <a:endParaRPr/>
          </a:p>
        </p:txBody>
      </p:sp>
      <p:sp>
        <p:nvSpPr>
          <p:cNvPr id="243" name="Google Shape;243;p10"/>
          <p:cNvSpPr txBox="1"/>
          <p:nvPr/>
        </p:nvSpPr>
        <p:spPr>
          <a:xfrm>
            <a:off x="9725558" y="3337560"/>
            <a:ext cx="18653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9893808" y="2240280"/>
            <a:ext cx="1719072" cy="2423160"/>
          </a:xfrm>
          <a:prstGeom prst="roundRect">
            <a:avLst>
              <a:gd fmla="val 8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0076688" y="2423160"/>
            <a:ext cx="502920" cy="502920"/>
          </a:xfrm>
          <a:prstGeom prst="ellipse">
            <a:avLst/>
          </a:prstGeom>
          <a:solidFill>
            <a:srgbClr val="C9A18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10076688" y="2423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/>
          </a:p>
        </p:txBody>
      </p:sp>
      <p:sp>
        <p:nvSpPr>
          <p:cNvPr id="247" name="Google Shape;247;p10"/>
          <p:cNvSpPr txBox="1"/>
          <p:nvPr/>
        </p:nvSpPr>
        <p:spPr>
          <a:xfrm>
            <a:off x="10076688" y="3108960"/>
            <a:ext cx="135331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Deployment</a:t>
            </a:r>
            <a:endParaRPr/>
          </a:p>
        </p:txBody>
      </p:sp>
      <p:sp>
        <p:nvSpPr>
          <p:cNvPr id="248" name="Google Shape;248;p10"/>
          <p:cNvSpPr txBox="1"/>
          <p:nvPr/>
        </p:nvSpPr>
        <p:spPr>
          <a:xfrm>
            <a:off x="10076688" y="3794760"/>
            <a:ext cx="135331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E3D2C3"/>
                </a:solidFill>
                <a:latin typeface="Calibri"/>
                <a:ea typeface="Calibri"/>
                <a:cs typeface="Calibri"/>
                <a:sym typeface="Calibri"/>
              </a:rPr>
              <a:t>Hosted on Vercel at baiskitnew.vercel.app</a:t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548640" y="5029200"/>
            <a:ext cx="11064240" cy="68580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Status:  </a:t>
            </a:r>
            <a:r>
              <a:rPr b="0" i="0"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all six phases complete — the working web app is live and being demonstrated in this review.</a:t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  <a:endParaRPr/>
          </a:p>
        </p:txBody>
      </p:sp>
      <p:sp>
        <p:nvSpPr>
          <p:cNvPr id="257" name="Google Shape;257;p11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What Makes Baiskit New</a:t>
            </a:r>
            <a:endParaRPr/>
          </a:p>
        </p:txBody>
      </p:sp>
      <p:graphicFrame>
        <p:nvGraphicFramePr>
          <p:cNvPr id="258" name="Google Shape;258;p11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{02BEFEF0-9CDD-437E-AAA2-31E5728366E7}</a:tableStyleId>
              </a:tblPr>
              <a:tblGrid>
                <a:gridCol w="2743200"/>
                <a:gridCol w="1051550"/>
                <a:gridCol w="960125"/>
                <a:gridCol w="914400"/>
                <a:gridCol w="1097275"/>
              </a:tblGrid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 / FLIPKART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OLX / QUIKR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JUSTDIAL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BAISKIT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651D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Buyer posts budget, sellers respond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B2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B2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B2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CC8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Global + local prices in one view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B2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B2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B2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CC8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providers alongside products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B2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B2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CC8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Second-hand with verified sellers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B2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B2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B2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CC8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Nearby offers &amp; sales by distance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B23A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✗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DCC8"/>
                    </a:solidFill>
                  </a:tcPr>
                </a:tc>
              </a:tr>
            </a:tbl>
          </a:graphicData>
        </a:graphic>
      </p:graphicFrame>
      <p:sp>
        <p:nvSpPr>
          <p:cNvPr id="259" name="Google Shape;259;p11"/>
          <p:cNvSpPr/>
          <p:nvPr/>
        </p:nvSpPr>
        <p:spPr>
          <a:xfrm>
            <a:off x="7635240" y="1554480"/>
            <a:ext cx="3977639" cy="1280160"/>
          </a:xfrm>
          <a:prstGeom prst="roundRect">
            <a:avLst>
              <a:gd fmla="val 8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 txBox="1"/>
          <p:nvPr/>
        </p:nvSpPr>
        <p:spPr>
          <a:xfrm>
            <a:off x="7863840" y="173736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Reverse buying for everyday retail</a:t>
            </a:r>
            <a:endParaRPr/>
          </a:p>
        </p:txBody>
      </p:sp>
      <p:sp>
        <p:nvSpPr>
          <p:cNvPr id="261" name="Google Shape;261;p11"/>
          <p:cNvSpPr txBox="1"/>
          <p:nvPr/>
        </p:nvSpPr>
        <p:spPr>
          <a:xfrm>
            <a:off x="7863840" y="210312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E3D2C3"/>
                </a:solidFill>
                <a:latin typeface="Calibri"/>
                <a:ea typeface="Calibri"/>
                <a:cs typeface="Calibri"/>
                <a:sym typeface="Calibri"/>
              </a:rPr>
              <a:t>Reverse auctions exist in B2B procurement; Baiskit brings them to individual shoppers.</a:t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7635240" y="3017520"/>
            <a:ext cx="3977639" cy="128016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7863840" y="32004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One request, four seller types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7863840" y="356616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Global platforms, local shops, service providers and resellers answer the same baiskit.</a:t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7635240" y="4480560"/>
            <a:ext cx="3977639" cy="128016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7863840" y="466344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A blue-tick for second-hand</a:t>
            </a:r>
            <a:endParaRPr/>
          </a:p>
        </p:txBody>
      </p:sp>
      <p:sp>
        <p:nvSpPr>
          <p:cNvPr id="267" name="Google Shape;267;p11"/>
          <p:cNvSpPr txBox="1"/>
          <p:nvPr/>
        </p:nvSpPr>
        <p:spPr>
          <a:xfrm>
            <a:off x="7863840" y="502920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Social-media style verification badge applied to C2C resale.</a:t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REAL-TIME USAGE</a:t>
            </a:r>
            <a:endParaRPr/>
          </a:p>
        </p:txBody>
      </p:sp>
      <p:sp>
        <p:nvSpPr>
          <p:cNvPr id="274" name="Google Shape;274;p12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Who Uses Baiskit, and How</a:t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548640" y="1554480"/>
            <a:ext cx="5440680" cy="150876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 txBox="1"/>
          <p:nvPr/>
        </p:nvSpPr>
        <p:spPr>
          <a:xfrm>
            <a:off x="77724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/>
          </a:p>
        </p:txBody>
      </p:sp>
      <p:sp>
        <p:nvSpPr>
          <p:cNvPr id="278" name="Google Shape;278;p12"/>
          <p:cNvSpPr txBox="1"/>
          <p:nvPr/>
        </p:nvSpPr>
        <p:spPr>
          <a:xfrm>
            <a:off x="1554480" y="1755648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College student</a:t>
            </a:r>
            <a:endParaRPr/>
          </a:p>
        </p:txBody>
      </p:sp>
      <p:sp>
        <p:nvSpPr>
          <p:cNvPr id="279" name="Google Shape;279;p12"/>
          <p:cNvSpPr txBox="1"/>
          <p:nvPr/>
        </p:nvSpPr>
        <p:spPr>
          <a:xfrm>
            <a:off x="1554480" y="2121408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Needs a study table under ₹2,000. Posts one baiskit and gets a verified resale offer at ₹1,200 and a local shop at ₹1,950.</a:t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6172200" y="1554480"/>
            <a:ext cx="5440680" cy="150876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6400800" y="1783080"/>
            <a:ext cx="566928" cy="566928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640080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</a:t>
            </a:r>
            <a:endParaRPr/>
          </a:p>
        </p:txBody>
      </p:sp>
      <p:sp>
        <p:nvSpPr>
          <p:cNvPr id="283" name="Google Shape;283;p12"/>
          <p:cNvSpPr txBox="1"/>
          <p:nvPr/>
        </p:nvSpPr>
        <p:spPr>
          <a:xfrm>
            <a:off x="7178040" y="1755648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Neighbourhood shopkeeper</a:t>
            </a:r>
            <a:endParaRPr/>
          </a:p>
        </p:txBody>
      </p:sp>
      <p:sp>
        <p:nvSpPr>
          <p:cNvPr id="284" name="Google Shape;284;p12"/>
          <p:cNvSpPr txBox="1"/>
          <p:nvPr/>
        </p:nvSpPr>
        <p:spPr>
          <a:xfrm>
            <a:off x="7178040" y="2121408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Sees live requests from buyers within a few km and wins customers who would have ordered online.</a:t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548640" y="3246120"/>
            <a:ext cx="5440680" cy="150876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777240" y="3474720"/>
            <a:ext cx="566928" cy="566928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 txBox="1"/>
          <p:nvPr/>
        </p:nvSpPr>
        <p:spPr>
          <a:xfrm>
            <a:off x="777240" y="34747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endParaRPr/>
          </a:p>
        </p:txBody>
      </p:sp>
      <p:sp>
        <p:nvSpPr>
          <p:cNvPr id="288" name="Google Shape;288;p12"/>
          <p:cNvSpPr txBox="1"/>
          <p:nvPr/>
        </p:nvSpPr>
        <p:spPr>
          <a:xfrm>
            <a:off x="1554480" y="3447288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Electrician / plumber</a:t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1554480" y="3813048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Lists service rates like a ride captain and responds to repair requests posted nearby.</a:t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6172200" y="3246120"/>
            <a:ext cx="5440680" cy="150876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6400800" y="3474720"/>
            <a:ext cx="566928" cy="566928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 txBox="1"/>
          <p:nvPr/>
        </p:nvSpPr>
        <p:spPr>
          <a:xfrm>
            <a:off x="6400800" y="34747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</a:t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7178040" y="3447288"/>
            <a:ext cx="4206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Household reseller</a:t>
            </a:r>
            <a:endParaRPr/>
          </a:p>
        </p:txBody>
      </p:sp>
      <p:sp>
        <p:nvSpPr>
          <p:cNvPr id="294" name="Google Shape;294;p12"/>
          <p:cNvSpPr txBox="1"/>
          <p:nvPr/>
        </p:nvSpPr>
        <p:spPr>
          <a:xfrm>
            <a:off x="7178040" y="3813048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Sells an old cycle or phone after ID verification, so buyers trust the listing.</a:t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fmla="val 10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 txBox="1"/>
          <p:nvPr/>
        </p:nvSpPr>
        <p:spPr>
          <a:xfrm>
            <a:off x="822960" y="513892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WHERE IT FITS</a:t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822960" y="5440680"/>
            <a:ext cx="10607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College campuses  ·  Residential colonies  ·  Tier-2 &amp; tier-3 towns  ·  Local markets with many small vendors</a:t>
            </a:r>
            <a:endParaRPr/>
          </a:p>
        </p:txBody>
      </p:sp>
      <p:sp>
        <p:nvSpPr>
          <p:cNvPr id="298" name="Google Shape;298;p1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Hardware &amp; Software Requirements</a:t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 txBox="1"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</a:t>
            </a:r>
            <a:endParaRPr/>
          </a:p>
        </p:txBody>
      </p:sp>
      <p:sp>
        <p:nvSpPr>
          <p:cNvPr id="307" name="Google Shape;307;p13"/>
          <p:cNvSpPr txBox="1"/>
          <p:nvPr/>
        </p:nvSpPr>
        <p:spPr>
          <a:xfrm>
            <a:off x="1097280" y="15087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Hardware</a:t>
            </a:r>
            <a:endParaRPr/>
          </a:p>
        </p:txBody>
      </p:sp>
      <p:graphicFrame>
        <p:nvGraphicFramePr>
          <p:cNvPr id="308" name="Google Shape;308;p13"/>
          <p:cNvGraphicFramePr/>
          <p:nvPr/>
        </p:nvGraphicFramePr>
        <p:xfrm>
          <a:off x="548640" y="2103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{02BEFEF0-9CDD-437E-AAA2-31E5728366E7}</a:tableStyleId>
              </a:tblPr>
              <a:tblGrid>
                <a:gridCol w="1691650"/>
                <a:gridCol w="3749050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SPECIFICATION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Processor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Intel Core i5 / AMD Ryzen 5 or above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RAM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GB minimum (16 GB recommended)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Storage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256 GB SSD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Stable broadband internet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Client device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Any smartphone or PC with a modern browser, GPS for nearby deals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Server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hosting (Vercel) — no dedicated hardware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p13"/>
          <p:cNvSpPr/>
          <p:nvPr/>
        </p:nvSpPr>
        <p:spPr>
          <a:xfrm>
            <a:off x="6172200" y="1508760"/>
            <a:ext cx="411480" cy="411480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 txBox="1"/>
          <p:nvPr/>
        </p:nvSpPr>
        <p:spPr>
          <a:xfrm>
            <a:off x="6172200" y="1508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endParaRPr/>
          </a:p>
        </p:txBody>
      </p:sp>
      <p:sp>
        <p:nvSpPr>
          <p:cNvPr id="311" name="Google Shape;311;p13"/>
          <p:cNvSpPr txBox="1"/>
          <p:nvPr/>
        </p:nvSpPr>
        <p:spPr>
          <a:xfrm>
            <a:off x="6720840" y="150876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Software</a:t>
            </a:r>
            <a:endParaRPr/>
          </a:p>
        </p:txBody>
      </p:sp>
      <p:graphicFrame>
        <p:nvGraphicFramePr>
          <p:cNvPr id="312" name="Google Shape;312;p13"/>
          <p:cNvGraphicFramePr/>
          <p:nvPr/>
        </p:nvGraphicFramePr>
        <p:xfrm>
          <a:off x="6172200" y="2103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{02BEFEF0-9CDD-437E-AAA2-31E5728366E7}</a:tableStyleId>
              </a:tblPr>
              <a:tblGrid>
                <a:gridCol w="1691650"/>
                <a:gridCol w="3749050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Operating system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Windows 10/11, macOS or Linux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 end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React.js, Tailwind CSS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 end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Node.js, Express.js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Database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VS Code, Git &amp; GitHub, Postman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Deployment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Vercel; Chrome / Edge for testing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</a:tbl>
          </a:graphicData>
        </a:graphic>
      </p:graphicFrame>
      <p:sp>
        <p:nvSpPr>
          <p:cNvPr id="313" name="Google Shape;313;p1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Overall System Architecture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22960" y="1554480"/>
            <a:ext cx="4937760" cy="777240"/>
          </a:xfrm>
          <a:prstGeom prst="roundRect">
            <a:avLst>
              <a:gd fmla="val 11765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1051560" y="164592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1051560" y="1993392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BE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F5EBE0"/>
                </a:solidFill>
                <a:latin typeface="Calibri"/>
                <a:ea typeface="Calibri"/>
                <a:cs typeface="Calibri"/>
                <a:sym typeface="Calibri"/>
              </a:rPr>
              <a:t>Shopper or seller using the app / web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3154680" y="2313432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822960" y="2532888"/>
            <a:ext cx="4937760" cy="777240"/>
          </a:xfrm>
          <a:prstGeom prst="roundRect">
            <a:avLst>
              <a:gd fmla="val 11765" name="adj"/>
            </a:avLst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1051560" y="262432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FRONTEND — React Native / React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1051560" y="2971800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BE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F5EBE0"/>
                </a:solidFill>
                <a:latin typeface="Calibri"/>
                <a:ea typeface="Calibri"/>
                <a:cs typeface="Calibri"/>
                <a:sym typeface="Calibri"/>
              </a:rPr>
              <a:t>Home, categories, baiskit form, listings UI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3154680" y="3291840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822960" y="3511296"/>
            <a:ext cx="4937760" cy="777240"/>
          </a:xfrm>
          <a:prstGeom prst="roundRect">
            <a:avLst>
              <a:gd fmla="val 11765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1051560" y="3602736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REST API — Node / Express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1051560" y="3950208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BE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F5EBE0"/>
                </a:solidFill>
                <a:latin typeface="Calibri"/>
                <a:ea typeface="Calibri"/>
                <a:cs typeface="Calibri"/>
                <a:sym typeface="Calibri"/>
              </a:rPr>
              <a:t>Coordinates requests across all services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3154680" y="4270248"/>
            <a:ext cx="274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822960" y="4489704"/>
            <a:ext cx="4937760" cy="777240"/>
          </a:xfrm>
          <a:prstGeom prst="roundRect">
            <a:avLst>
              <a:gd fmla="val 11765" name="adj"/>
            </a:avLst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1051560" y="4581144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DATABASE — PostgreSQL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1051560" y="4928616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BE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F5EBE0"/>
                </a:solidFill>
                <a:latin typeface="Calibri"/>
                <a:ea typeface="Calibri"/>
                <a:cs typeface="Calibri"/>
                <a:sym typeface="Calibri"/>
              </a:rPr>
              <a:t>Stores listings, prices, users &amp; baiskit requests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6400800" y="3291840"/>
            <a:ext cx="5212080" cy="731520"/>
          </a:xfrm>
          <a:prstGeom prst="roundRect">
            <a:avLst>
              <a:gd fmla="val 12500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6629400" y="336499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PRICE AGGREGATION SERVICE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6629400" y="368503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EFE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CEFE4"/>
                </a:solidFill>
                <a:latin typeface="Calibri"/>
                <a:ea typeface="Calibri"/>
                <a:cs typeface="Calibri"/>
                <a:sym typeface="Calibri"/>
              </a:rPr>
              <a:t>Pulls prices from global platforms &amp; vendor listings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6400800" y="4206240"/>
            <a:ext cx="5212080" cy="731520"/>
          </a:xfrm>
          <a:prstGeom prst="roundRect">
            <a:avLst>
              <a:gd fmla="val 12500" name="adj"/>
            </a:avLst>
          </a:prstGeom>
          <a:solidFill>
            <a:srgbClr val="CE8A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6629400" y="427939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VERIFICATION SERVICE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6629400" y="459943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EFE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FCEFE4"/>
                </a:solidFill>
                <a:latin typeface="Calibri"/>
                <a:ea typeface="Calibri"/>
                <a:cs typeface="Calibri"/>
                <a:sym typeface="Calibri"/>
              </a:rPr>
              <a:t>Runs KYC checks and assigns the trust badge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6400800" y="5120640"/>
            <a:ext cx="5212080" cy="731520"/>
          </a:xfrm>
          <a:prstGeom prst="roundRect">
            <a:avLst>
              <a:gd fmla="val 12500" name="adj"/>
            </a:avLst>
          </a:prstGeom>
          <a:solidFill>
            <a:srgbClr val="E0A8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6629400" y="519379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BAISKIT MATCHING ENGINE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6629400" y="5513832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Ranks sellers against a user's budget &amp; quantity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5" name="Google Shape;345;p14"/>
          <p:cNvCxnSpPr/>
          <p:nvPr/>
        </p:nvCxnSpPr>
        <p:spPr>
          <a:xfrm>
            <a:off x="5760720" y="3657600"/>
            <a:ext cx="640080" cy="0"/>
          </a:xfrm>
          <a:prstGeom prst="straightConnector1">
            <a:avLst/>
          </a:prstGeom>
          <a:noFill/>
          <a:ln cap="flat" cmpd="sng" w="15875">
            <a:solidFill>
              <a:srgbClr val="8A7566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6" name="Google Shape;346;p14"/>
          <p:cNvCxnSpPr/>
          <p:nvPr/>
        </p:nvCxnSpPr>
        <p:spPr>
          <a:xfrm>
            <a:off x="5760720" y="3657600"/>
            <a:ext cx="0" cy="1828800"/>
          </a:xfrm>
          <a:prstGeom prst="straightConnector1">
            <a:avLst/>
          </a:prstGeom>
          <a:noFill/>
          <a:ln cap="flat" cmpd="sng" w="15875">
            <a:solidFill>
              <a:srgbClr val="8A7566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7" name="Google Shape;347;p14"/>
          <p:cNvCxnSpPr/>
          <p:nvPr/>
        </p:nvCxnSpPr>
        <p:spPr>
          <a:xfrm>
            <a:off x="5760720" y="4572000"/>
            <a:ext cx="640080" cy="0"/>
          </a:xfrm>
          <a:prstGeom prst="straightConnector1">
            <a:avLst/>
          </a:prstGeom>
          <a:noFill/>
          <a:ln cap="flat" cmpd="sng" w="15875">
            <a:solidFill>
              <a:srgbClr val="8A7566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8" name="Google Shape;348;p14"/>
          <p:cNvCxnSpPr/>
          <p:nvPr/>
        </p:nvCxnSpPr>
        <p:spPr>
          <a:xfrm>
            <a:off x="5760720" y="5486400"/>
            <a:ext cx="640080" cy="0"/>
          </a:xfrm>
          <a:prstGeom prst="straightConnector1">
            <a:avLst/>
          </a:prstGeom>
          <a:noFill/>
          <a:ln cap="flat" cmpd="sng" w="15875">
            <a:solidFill>
              <a:srgbClr val="8A756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9" name="Google Shape;349;p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/>
          </a:p>
        </p:txBody>
      </p:sp>
      <p:sp>
        <p:nvSpPr>
          <p:cNvPr id="355" name="Google Shape;355;p15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What Prior Research Tells Us</a:t>
            </a:r>
            <a:endParaRPr/>
          </a:p>
        </p:txBody>
      </p:sp>
      <p:graphicFrame>
        <p:nvGraphicFramePr>
          <p:cNvPr id="356" name="Google Shape;356;p15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{02BEFEF0-9CDD-437E-AAA2-31E5728366E7}</a:tableStyleId>
              </a:tblPr>
              <a:tblGrid>
                <a:gridCol w="411475"/>
                <a:gridCol w="2103125"/>
                <a:gridCol w="4434850"/>
                <a:gridCol w="4114800"/>
              </a:tblGrid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AUTHOR(S), YEAR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FINDING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BAISKIT USES IT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Bakos, 1997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Electronic marketplaces lower buyers' search costs and push prices toward competitive levels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request reaches every seller type, cutting search cost further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Brynjolfsson &amp; Smith, 2000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 prices are lower but still widely dispersed across retailers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Shows the same item side by side from global, local and resale sellers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Resnick et al., 2000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Reputation systems build trust among strangers trading online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Ratings and sales history form each seller's trust score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Jap, 2002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Online reverse auctions let buyers make sellers compete on price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Brings reverse bidding from B2B procurement to everyday shoppers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Pavlou &amp; Gefen, 2004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Institution-based trust (verification, escrow) drives C2C buying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ID-verified badge as platform-level assurance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3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Montgomery et al., 2004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Shopbots should rank offers on utility, not price alone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5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Matching engine weighs price, distance and seller trust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</a:tbl>
          </a:graphicData>
        </a:graphic>
      </p:graphicFrame>
      <p:sp>
        <p:nvSpPr>
          <p:cNvPr id="357" name="Google Shape;357;p15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Full citations on the References slide.</a:t>
            </a:r>
            <a:endParaRPr/>
          </a:p>
        </p:txBody>
      </p:sp>
      <p:sp>
        <p:nvSpPr>
          <p:cNvPr id="358" name="Google Shape;358;p1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STAKEHOLDERS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Target Users / Stakeholders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4480560" y="1554480"/>
            <a:ext cx="3200400" cy="502920"/>
          </a:xfrm>
          <a:prstGeom prst="roundRect">
            <a:avLst>
              <a:gd fmla="val 49091" name="adj"/>
            </a:avLst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4480560" y="15544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Shoppers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5943600" y="205740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4023360" y="2331720"/>
            <a:ext cx="4114800" cy="502920"/>
          </a:xfrm>
          <a:prstGeom prst="roundRect">
            <a:avLst>
              <a:gd fmla="val 49091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4023360" y="23317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Baiskit Platform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5943600" y="283464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2148840" y="3154680"/>
            <a:ext cx="1783080" cy="594360"/>
          </a:xfrm>
          <a:prstGeom prst="roundRect">
            <a:avLst>
              <a:gd fmla="val 15385" name="adj"/>
            </a:avLst>
          </a:prstGeom>
          <a:solidFill>
            <a:srgbClr val="EFE1D3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2148840" y="315468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Vendors &amp;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Shopkeepers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4096512" y="3154680"/>
            <a:ext cx="1783080" cy="594360"/>
          </a:xfrm>
          <a:prstGeom prst="roundRect">
            <a:avLst>
              <a:gd fmla="val 15385" name="adj"/>
            </a:avLst>
          </a:prstGeom>
          <a:solidFill>
            <a:srgbClr val="EFE1D3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4096512" y="315468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Providers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6044184" y="3154680"/>
            <a:ext cx="1783080" cy="594360"/>
          </a:xfrm>
          <a:prstGeom prst="roundRect">
            <a:avLst>
              <a:gd fmla="val 15385" name="adj"/>
            </a:avLst>
          </a:prstGeom>
          <a:solidFill>
            <a:srgbClr val="EFE1D3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6044184" y="315468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Verified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Resellers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7991856" y="3154680"/>
            <a:ext cx="1783080" cy="594360"/>
          </a:xfrm>
          <a:prstGeom prst="roundRect">
            <a:avLst>
              <a:gd fmla="val 15385" name="adj"/>
            </a:avLst>
          </a:prstGeom>
          <a:solidFill>
            <a:srgbClr val="EFE1D3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7991856" y="3154680"/>
            <a:ext cx="1783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/>
          <p:nvPr/>
        </p:nvSpPr>
        <p:spPr>
          <a:xfrm>
            <a:off x="548640" y="3977640"/>
            <a:ext cx="11109960" cy="411480"/>
          </a:xfrm>
          <a:prstGeom prst="roundRect">
            <a:avLst>
              <a:gd fmla="val 16667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822960" y="397764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pc="100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4023360" y="39776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pc="100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548640" y="4389120"/>
            <a:ext cx="111099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822960" y="4389120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Shoppers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4023360" y="4389120"/>
            <a:ext cx="7315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Compare prices, create baiskits, buy from best option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548640" y="4782312"/>
            <a:ext cx="11109960" cy="393192"/>
          </a:xfrm>
          <a:prstGeom prst="rect">
            <a:avLst/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822960" y="4782312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Vendors / Shopkeepers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/>
          <p:nvPr/>
        </p:nvSpPr>
        <p:spPr>
          <a:xfrm>
            <a:off x="4023360" y="4782312"/>
            <a:ext cx="7315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List products &amp; prices, respond to baiskit requests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548640" y="5175504"/>
            <a:ext cx="111099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822960" y="5175504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Service Providers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4023360" y="5175504"/>
            <a:ext cx="7315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List service rates, similar to a ride-captain model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548640" y="5568696"/>
            <a:ext cx="11109960" cy="393192"/>
          </a:xfrm>
          <a:prstGeom prst="rect">
            <a:avLst/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822960" y="5568696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Verified Resellers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4023360" y="5568696"/>
            <a:ext cx="7315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List second-hand items with identity verification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548640" y="5961888"/>
            <a:ext cx="1110996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822960" y="5961888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4023360" y="5961888"/>
            <a:ext cx="7315200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Verify users, moderate listings and manage categories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MODULE DESCRIPTION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Module Description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548640" y="1645920"/>
            <a:ext cx="3520440" cy="1874520"/>
          </a:xfrm>
          <a:prstGeom prst="roundRect">
            <a:avLst>
              <a:gd fmla="val 4878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777240" y="17830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B5651D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777240" y="226771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Global Price Compare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777240" y="269748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Aggregates prices across major e-commerce platforms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4343400" y="1645920"/>
            <a:ext cx="3520440" cy="1874520"/>
          </a:xfrm>
          <a:prstGeom prst="roundRect">
            <a:avLst>
              <a:gd fmla="val 4878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4572000" y="17830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B5651D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4572000" y="226771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Local Vendor Connect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4572000" y="269748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Shopkeepers &amp; vendors list live prices for the same product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8138160" y="1645920"/>
            <a:ext cx="3520440" cy="1874520"/>
          </a:xfrm>
          <a:prstGeom prst="roundRect">
            <a:avLst>
              <a:gd fmla="val 4878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8366760" y="17830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B5651D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8366760" y="226771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Service Provider Rates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8366760" y="269748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Freelancers &amp; service providers list rates, Rapido-captain style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548640" y="3749040"/>
            <a:ext cx="3520440" cy="1874520"/>
          </a:xfrm>
          <a:prstGeom prst="roundRect">
            <a:avLst>
              <a:gd fmla="val 4878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777240" y="3886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B5651D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777240" y="437083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Verified Resale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777240" y="480060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Second-hand listings with identity-verified sellers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4343400" y="3749040"/>
            <a:ext cx="3520440" cy="1874520"/>
          </a:xfrm>
          <a:prstGeom prst="roundRect">
            <a:avLst>
              <a:gd fmla="val 4878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4572000" y="3886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B5651D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4572000" y="437083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Create Baiskit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4572000" y="480060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Set a budget &amp; quantity to get matched sellers instantly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8138160" y="3749040"/>
            <a:ext cx="3520440" cy="1874520"/>
          </a:xfrm>
          <a:prstGeom prst="roundRect">
            <a:avLst>
              <a:gd fmla="val 4878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8366760" y="38862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B5651D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8366760" y="437083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Nearby Deals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8366760" y="4800600"/>
            <a:ext cx="3063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Surfaces offers and sales from vendors close to the user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FEATURE SPOTLIGHT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Trust-First Second-Hand Selling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548640" y="150876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Anyone can list an old item — but only verified users carry a trust badge, similar to Instagram's blue tick. Buyers instantly know who they can trust.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548640" y="2606040"/>
            <a:ext cx="384048" cy="384048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548640" y="2606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1051560" y="2578608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ID &amp; Document Check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1051560" y="28529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Sellers verify identity before listing resale items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548640" y="3355848"/>
            <a:ext cx="384048" cy="384048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1051560" y="3328416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Verified Badge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1051560" y="3602736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A visible tick appears next to trusted sellers' names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548640" y="4105656"/>
            <a:ext cx="384048" cy="384048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548640" y="41056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1051560" y="407822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Rating &amp; History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1051560" y="4352544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Past sales and buyer ratings build a visible trust score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548640" y="4855464"/>
            <a:ext cx="384048" cy="384048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548640" y="485546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1051560" y="4828032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Safer Transactions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1051560" y="5102352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Buyers can filter listings to verified sellers only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6720840" y="1508760"/>
            <a:ext cx="4892040" cy="4480560"/>
          </a:xfrm>
          <a:prstGeom prst="roundRect">
            <a:avLst>
              <a:gd fmla="val 2449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7360920" y="1965960"/>
            <a:ext cx="914400" cy="914400"/>
          </a:xfrm>
          <a:prstGeom prst="ellipse">
            <a:avLst/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7360920" y="196596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8412480" y="205740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Aditi Sharma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10652760" y="2103120"/>
            <a:ext cx="274320" cy="274320"/>
          </a:xfrm>
          <a:prstGeom prst="ellipse">
            <a:avLst/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10652760" y="21031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8412480" y="24231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Verified Seller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8412480" y="26974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DCC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9DCCF"/>
                </a:solidFill>
                <a:latin typeface="Calibri"/>
                <a:ea typeface="Calibri"/>
                <a:cs typeface="Calibri"/>
                <a:sym typeface="Calibri"/>
              </a:rPr>
              <a:t>★ 4.8  ·  32 items sold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3" name="Google Shape;463;p18"/>
          <p:cNvCxnSpPr/>
          <p:nvPr/>
        </p:nvCxnSpPr>
        <p:spPr>
          <a:xfrm>
            <a:off x="7315200" y="3200400"/>
            <a:ext cx="3977640" cy="0"/>
          </a:xfrm>
          <a:prstGeom prst="straightConnector1">
            <a:avLst/>
          </a:prstGeom>
          <a:noFill/>
          <a:ln cap="flat" cmpd="sng" w="12700">
            <a:solidFill>
              <a:srgbClr val="6E554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p18"/>
          <p:cNvSpPr/>
          <p:nvPr/>
        </p:nvSpPr>
        <p:spPr>
          <a:xfrm>
            <a:off x="7315200" y="33375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000"/>
              <a:buFont typeface="Calibri"/>
              <a:buNone/>
            </a:pPr>
            <a:r>
              <a:rPr b="1" lang="en-US" spc="150" sz="10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LISTED ITEM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7315200" y="3657600"/>
            <a:ext cx="3977640" cy="1463040"/>
          </a:xfrm>
          <a:prstGeom prst="roundRect">
            <a:avLst>
              <a:gd fmla="val 5000" name="adj"/>
            </a:avLst>
          </a:prstGeom>
          <a:solidFill>
            <a:srgbClr val="4A33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7498080" y="3794760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 Table (Used, Good Condition)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7498080" y="4251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800"/>
              <a:buFont typeface="Cambria"/>
              <a:buNone/>
            </a:pPr>
            <a:r>
              <a:rPr b="1" lang="en-US" sz="1800">
                <a:solidFill>
                  <a:srgbClr val="C9A184"/>
                </a:solidFill>
                <a:latin typeface="Cambria"/>
                <a:ea typeface="Cambria"/>
                <a:cs typeface="Cambria"/>
                <a:sym typeface="Cambria"/>
              </a:rPr>
              <a:t>₹1,200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7498080" y="466344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B3A2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8B3A2"/>
                </a:solidFill>
                <a:latin typeface="Calibri"/>
                <a:ea typeface="Calibri"/>
                <a:cs typeface="Calibri"/>
                <a:sym typeface="Calibri"/>
              </a:rPr>
              <a:t>Posted 2 days ago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9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FEATURE SPOTLIGHT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Create Baiskit — Buy on Your Terms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548640" y="1508760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Instead of hunting for a good deal, the user sets exactly what they want to pay and how many they need. Baiskit then finds every platform, vendor, or service provider that fits.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548640" y="2697480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1188720" y="267919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Enter Product / Service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1188720" y="295351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Search or select what they want to buy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548640" y="3355848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548640" y="3355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1188720" y="3337560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Set Budget &amp; Quantity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1188720" y="361188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e.g. ₹2,000 max, 1 unit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548640" y="4014216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548640" y="40142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1188720" y="3995928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Baiskit Matches Sellers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9"/>
          <p:cNvSpPr/>
          <p:nvPr/>
        </p:nvSpPr>
        <p:spPr>
          <a:xfrm>
            <a:off x="1188720" y="427024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Global platforms, local vendors &amp; resellers checked instantly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548640" y="4672584"/>
            <a:ext cx="457200" cy="457200"/>
          </a:xfrm>
          <a:prstGeom prst="roundRect">
            <a:avLst>
              <a:gd fmla="val 16000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548640" y="46725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1188720" y="4654296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Contact Best Match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1188720" y="4928616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80"/>
              <a:buFont typeface="Calibri"/>
              <a:buNone/>
            </a:pPr>
            <a:r>
              <a:rPr lang="en-US" sz="108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User reaches out directly to the matched seller</a:t>
            </a:r>
            <a:endParaRPr sz="10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6720840" y="1508760"/>
            <a:ext cx="4892040" cy="4480560"/>
          </a:xfrm>
          <a:prstGeom prst="roundRect">
            <a:avLst>
              <a:gd fmla="val 2449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7086600" y="17830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100"/>
              <a:buFont typeface="Calibri"/>
              <a:buNone/>
            </a:pPr>
            <a:r>
              <a:rPr b="1" lang="en-US" spc="150" sz="11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CREATE BAISKIT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7086600" y="205740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Wireless Earbuds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9"/>
          <p:cNvSpPr/>
          <p:nvPr/>
        </p:nvSpPr>
        <p:spPr>
          <a:xfrm>
            <a:off x="7086600" y="26060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Your Budget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7086600" y="2834640"/>
            <a:ext cx="4206240" cy="384048"/>
          </a:xfrm>
          <a:prstGeom prst="roundRect">
            <a:avLst>
              <a:gd fmla="val 19048" name="adj"/>
            </a:avLst>
          </a:prstGeom>
          <a:solidFill>
            <a:srgbClr val="FFFFFF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7269480" y="2834640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₹1,500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7086600" y="3355848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Quantity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9"/>
          <p:cNvSpPr/>
          <p:nvPr/>
        </p:nvSpPr>
        <p:spPr>
          <a:xfrm>
            <a:off x="7086600" y="3584448"/>
            <a:ext cx="4206240" cy="384048"/>
          </a:xfrm>
          <a:prstGeom prst="roundRect">
            <a:avLst>
              <a:gd fmla="val 19048" name="adj"/>
            </a:avLst>
          </a:prstGeom>
          <a:solidFill>
            <a:srgbClr val="FFFFFF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7269480" y="358444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7086600" y="4151376"/>
            <a:ext cx="4206240" cy="411480"/>
          </a:xfrm>
          <a:prstGeom prst="roundRect">
            <a:avLst>
              <a:gd fmla="val 17778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7086600" y="4151376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 My Matches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9"/>
          <p:cNvSpPr/>
          <p:nvPr/>
        </p:nvSpPr>
        <p:spPr>
          <a:xfrm>
            <a:off x="7086600" y="4745736"/>
            <a:ext cx="4206240" cy="502920"/>
          </a:xfrm>
          <a:prstGeom prst="roundRect">
            <a:avLst>
              <a:gd fmla="val 12727" name="adj"/>
            </a:avLst>
          </a:prstGeom>
          <a:solidFill>
            <a:srgbClr val="FFFFFF"/>
          </a:solidFill>
          <a:ln cap="flat" cmpd="sng" w="12700">
            <a:solidFill>
              <a:srgbClr val="E3D2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7223760" y="4791456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Local Vendor — Rahul Electronics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9966960" y="4791456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50"/>
              <a:buFont typeface="Cambria"/>
              <a:buNone/>
            </a:pPr>
            <a:r>
              <a:rPr b="1" lang="en-US" sz="1250">
                <a:solidFill>
                  <a:srgbClr val="B5651D"/>
                </a:solidFill>
                <a:latin typeface="Cambria"/>
                <a:ea typeface="Cambria"/>
                <a:cs typeface="Cambria"/>
                <a:sym typeface="Cambria"/>
              </a:rPr>
              <a:t>₹1,450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7086600" y="5340096"/>
            <a:ext cx="4206240" cy="502920"/>
          </a:xfrm>
          <a:prstGeom prst="roundRect">
            <a:avLst>
              <a:gd fmla="val 12727" name="adj"/>
            </a:avLst>
          </a:prstGeom>
          <a:solidFill>
            <a:srgbClr val="FFFFFF"/>
          </a:solidFill>
          <a:ln cap="flat" cmpd="sng" w="12700">
            <a:solidFill>
              <a:srgbClr val="E3D2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9"/>
          <p:cNvSpPr/>
          <p:nvPr/>
        </p:nvSpPr>
        <p:spPr>
          <a:xfrm>
            <a:off x="7223760" y="5385816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Verified Resale — Priya K.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9966960" y="5385816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50"/>
              <a:buFont typeface="Cambria"/>
              <a:buNone/>
            </a:pPr>
            <a:r>
              <a:rPr b="1" lang="en-US" sz="1250">
                <a:solidFill>
                  <a:srgbClr val="B5651D"/>
                </a:solidFill>
                <a:latin typeface="Cambria"/>
                <a:ea typeface="Cambria"/>
                <a:cs typeface="Cambria"/>
                <a:sym typeface="Cambria"/>
              </a:rPr>
              <a:t>₹1,100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INTERFACE BLUEPRINT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0"/>
          <p:cNvSpPr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App Navigation Structure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0"/>
          <p:cNvSpPr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The app is organized into three fixed layers so users always know where they are.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0"/>
          <p:cNvSpPr/>
          <p:nvPr/>
        </p:nvSpPr>
        <p:spPr>
          <a:xfrm>
            <a:off x="548640" y="1965960"/>
            <a:ext cx="11109960" cy="960120"/>
          </a:xfrm>
          <a:prstGeom prst="roundRect">
            <a:avLst>
              <a:gd fmla="val 9524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868680" y="20939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Top Bar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0"/>
          <p:cNvSpPr/>
          <p:nvPr/>
        </p:nvSpPr>
        <p:spPr>
          <a:xfrm>
            <a:off x="868680" y="2478024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AE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4EAE0"/>
                </a:solidFill>
                <a:latin typeface="Calibri"/>
                <a:ea typeface="Calibri"/>
                <a:cs typeface="Calibri"/>
                <a:sym typeface="Calibri"/>
              </a:rPr>
              <a:t>Menu icon  ·  Search bar  ·  Profile icon — one single row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0"/>
          <p:cNvSpPr/>
          <p:nvPr/>
        </p:nvSpPr>
        <p:spPr>
          <a:xfrm>
            <a:off x="548640" y="3108960"/>
            <a:ext cx="11109960" cy="960120"/>
          </a:xfrm>
          <a:prstGeom prst="roundRect">
            <a:avLst>
              <a:gd fmla="val 9524" name="adj"/>
            </a:avLst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0"/>
          <p:cNvSpPr/>
          <p:nvPr/>
        </p:nvSpPr>
        <p:spPr>
          <a:xfrm>
            <a:off x="868680" y="32369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Middle Section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868680" y="3621024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AE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4EAE0"/>
                </a:solidFill>
                <a:latin typeface="Calibri"/>
                <a:ea typeface="Calibri"/>
                <a:cs typeface="Calibri"/>
                <a:sym typeface="Calibri"/>
              </a:rPr>
              <a:t>Categories  ·  Offers  ·  Sale Nearby — three content blocks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548640" y="4251960"/>
            <a:ext cx="11109960" cy="960120"/>
          </a:xfrm>
          <a:prstGeom prst="roundRect">
            <a:avLst>
              <a:gd fmla="val 9524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868680" y="437997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Bottom Navigation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868680" y="4764024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EAE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4EAE0"/>
                </a:solidFill>
                <a:latin typeface="Calibri"/>
                <a:ea typeface="Calibri"/>
                <a:cs typeface="Calibri"/>
                <a:sym typeface="Calibri"/>
              </a:rPr>
              <a:t>Home  ·  Vendors  ·  Add  ·  Create Basket  ·  Orders — five icons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548640" y="54406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050"/>
              <a:buFont typeface="Calibri"/>
              <a:buNone/>
            </a:pPr>
            <a:r>
              <a:rPr b="1" lang="en-US" spc="120" sz="105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TOP BAR — DETAIL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0"/>
          <p:cNvSpPr/>
          <p:nvPr/>
        </p:nvSpPr>
        <p:spPr>
          <a:xfrm>
            <a:off x="548640" y="5742432"/>
            <a:ext cx="5486400" cy="566928"/>
          </a:xfrm>
          <a:prstGeom prst="roundRect">
            <a:avLst>
              <a:gd fmla="val 16129" name="adj"/>
            </a:avLst>
          </a:prstGeom>
          <a:solidFill>
            <a:srgbClr val="EFE1D3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777240" y="5897880"/>
            <a:ext cx="292608" cy="41148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777240" y="5998464"/>
            <a:ext cx="292608" cy="41148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777240" y="6099048"/>
            <a:ext cx="292608" cy="41148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0"/>
          <p:cNvSpPr/>
          <p:nvPr/>
        </p:nvSpPr>
        <p:spPr>
          <a:xfrm>
            <a:off x="1371600" y="5879592"/>
            <a:ext cx="3108960" cy="292608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/>
          <p:nvPr/>
        </p:nvSpPr>
        <p:spPr>
          <a:xfrm>
            <a:off x="1508760" y="587959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🔍  Search on Baiskit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4754880" y="5870448"/>
            <a:ext cx="310896" cy="310896"/>
          </a:xfrm>
          <a:prstGeom prst="ellipse">
            <a:avLst/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4754880" y="5870448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6355080" y="54406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050"/>
              <a:buFont typeface="Calibri"/>
              <a:buNone/>
            </a:pPr>
            <a:r>
              <a:rPr b="1" lang="en-US" spc="120" sz="105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BOTTOM NAV — DETAIL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6355080" y="5742432"/>
            <a:ext cx="5303520" cy="566928"/>
          </a:xfrm>
          <a:prstGeom prst="roundRect">
            <a:avLst>
              <a:gd fmla="val 16129" name="adj"/>
            </a:avLst>
          </a:prstGeom>
          <a:solidFill>
            <a:srgbClr val="EFE1D3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6355080" y="5888736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7415784" y="5888736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Vendors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8476488" y="5888736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9537192" y="5888736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Basket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0"/>
          <p:cNvSpPr/>
          <p:nvPr/>
        </p:nvSpPr>
        <p:spPr>
          <a:xfrm>
            <a:off x="10597896" y="5888736"/>
            <a:ext cx="10607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UI DESIGN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1"/>
          <p:cNvSpPr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UI Design — Home Screen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1"/>
          <p:cNvSpPr/>
          <p:nvPr/>
        </p:nvSpPr>
        <p:spPr>
          <a:xfrm>
            <a:off x="4251960" y="1508760"/>
            <a:ext cx="3657600" cy="4709160"/>
          </a:xfrm>
          <a:prstGeom prst="roundRect">
            <a:avLst>
              <a:gd fmla="val 45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1"/>
          <p:cNvSpPr/>
          <p:nvPr/>
        </p:nvSpPr>
        <p:spPr>
          <a:xfrm>
            <a:off x="4361688" y="1618488"/>
            <a:ext cx="3438144" cy="4489704"/>
          </a:xfrm>
          <a:prstGeom prst="roundRect">
            <a:avLst>
              <a:gd fmla="val 2660" name="adj"/>
            </a:avLst>
          </a:prstGeom>
          <a:solidFill>
            <a:srgbClr val="F7EFE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1"/>
          <p:cNvSpPr/>
          <p:nvPr/>
        </p:nvSpPr>
        <p:spPr>
          <a:xfrm>
            <a:off x="4544568" y="1874520"/>
            <a:ext cx="256032" cy="36576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1"/>
          <p:cNvSpPr/>
          <p:nvPr/>
        </p:nvSpPr>
        <p:spPr>
          <a:xfrm>
            <a:off x="4544568" y="1956816"/>
            <a:ext cx="256032" cy="36576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1"/>
          <p:cNvSpPr/>
          <p:nvPr/>
        </p:nvSpPr>
        <p:spPr>
          <a:xfrm>
            <a:off x="4544568" y="2039112"/>
            <a:ext cx="256032" cy="36576"/>
          </a:xfrm>
          <a:prstGeom prst="rect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1"/>
          <p:cNvSpPr/>
          <p:nvPr/>
        </p:nvSpPr>
        <p:spPr>
          <a:xfrm>
            <a:off x="4956048" y="1819656"/>
            <a:ext cx="2249424" cy="27432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1"/>
          <p:cNvSpPr/>
          <p:nvPr/>
        </p:nvSpPr>
        <p:spPr>
          <a:xfrm>
            <a:off x="5047488" y="1819656"/>
            <a:ext cx="20665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🔍 Search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1"/>
          <p:cNvSpPr/>
          <p:nvPr/>
        </p:nvSpPr>
        <p:spPr>
          <a:xfrm>
            <a:off x="7324344" y="1810512"/>
            <a:ext cx="292608" cy="292608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4544568" y="2322576"/>
            <a:ext cx="3072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Categories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4544568" y="2596896"/>
            <a:ext cx="658368" cy="457200"/>
          </a:xfrm>
          <a:prstGeom prst="roundRect">
            <a:avLst>
              <a:gd fmla="val 16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4544568" y="285292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Electronics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5276088" y="2596896"/>
            <a:ext cx="658368" cy="457200"/>
          </a:xfrm>
          <a:prstGeom prst="roundRect">
            <a:avLst>
              <a:gd fmla="val 16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5276088" y="285292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Fashion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1"/>
          <p:cNvSpPr/>
          <p:nvPr/>
        </p:nvSpPr>
        <p:spPr>
          <a:xfrm>
            <a:off x="6007608" y="2596896"/>
            <a:ext cx="658368" cy="457200"/>
          </a:xfrm>
          <a:prstGeom prst="roundRect">
            <a:avLst>
              <a:gd fmla="val 16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6007608" y="285292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1"/>
          <p:cNvSpPr/>
          <p:nvPr/>
        </p:nvSpPr>
        <p:spPr>
          <a:xfrm>
            <a:off x="6739128" y="2596896"/>
            <a:ext cx="658368" cy="457200"/>
          </a:xfrm>
          <a:prstGeom prst="roundRect">
            <a:avLst>
              <a:gd fmla="val 16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6739128" y="2852928"/>
            <a:ext cx="6583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650"/>
              <a:buFont typeface="Calibri"/>
              <a:buNone/>
            </a:pPr>
            <a:r>
              <a:rPr lang="en-US" sz="65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Books</a:t>
            </a:r>
            <a:endParaRPr sz="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4544568" y="3218688"/>
            <a:ext cx="3072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Offers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1"/>
          <p:cNvSpPr/>
          <p:nvPr/>
        </p:nvSpPr>
        <p:spPr>
          <a:xfrm>
            <a:off x="4544568" y="3493008"/>
            <a:ext cx="3072384" cy="502920"/>
          </a:xfrm>
          <a:prstGeom prst="roundRect">
            <a:avLst>
              <a:gd fmla="val 14545" name="adj"/>
            </a:avLst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4681728" y="3493008"/>
            <a:ext cx="2798064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Flat 20% off — Electronics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4544568" y="4133088"/>
            <a:ext cx="30723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150"/>
              <a:buFont typeface="Cambria"/>
              <a:buNone/>
            </a:pPr>
            <a:r>
              <a:rPr b="1" lang="en-US" sz="115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Sale Nearby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4544568" y="4407408"/>
            <a:ext cx="3072384" cy="310896"/>
          </a:xfrm>
          <a:prstGeom prst="rect">
            <a:avLst/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4636008" y="4407408"/>
            <a:ext cx="2889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Rahul Electronics — 0.4 km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4544568" y="4773168"/>
            <a:ext cx="3072384" cy="310896"/>
          </a:xfrm>
          <a:prstGeom prst="rect">
            <a:avLst/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1"/>
          <p:cNvSpPr/>
          <p:nvPr/>
        </p:nvSpPr>
        <p:spPr>
          <a:xfrm>
            <a:off x="4636008" y="4773168"/>
            <a:ext cx="28895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750"/>
              <a:buFont typeface="Calibri"/>
              <a:buNone/>
            </a:pPr>
            <a:r>
              <a:rPr lang="en-US" sz="7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Priya's Resale Store — 0.8 km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1"/>
          <p:cNvSpPr/>
          <p:nvPr/>
        </p:nvSpPr>
        <p:spPr>
          <a:xfrm>
            <a:off x="4407408" y="5715000"/>
            <a:ext cx="3346704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1"/>
          <p:cNvSpPr/>
          <p:nvPr/>
        </p:nvSpPr>
        <p:spPr>
          <a:xfrm>
            <a:off x="4407408" y="5715000"/>
            <a:ext cx="669341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680"/>
              <a:buFont typeface="Calibri"/>
              <a:buNone/>
            </a:pPr>
            <a:r>
              <a:rPr b="1" lang="en-US" sz="68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1"/>
          <p:cNvSpPr/>
          <p:nvPr/>
        </p:nvSpPr>
        <p:spPr>
          <a:xfrm>
            <a:off x="5076749" y="5715000"/>
            <a:ext cx="669341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680"/>
              <a:buFont typeface="Calibri"/>
              <a:buNone/>
            </a:pPr>
            <a:r>
              <a:rPr b="1" lang="en-US" sz="68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Vendors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5746090" y="5715000"/>
            <a:ext cx="669341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680"/>
              <a:buFont typeface="Calibri"/>
              <a:buNone/>
            </a:pPr>
            <a:r>
              <a:rPr b="1" lang="en-US" sz="68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1"/>
          <p:cNvSpPr/>
          <p:nvPr/>
        </p:nvSpPr>
        <p:spPr>
          <a:xfrm>
            <a:off x="6415430" y="5715000"/>
            <a:ext cx="669341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680"/>
              <a:buFont typeface="Calibri"/>
              <a:buNone/>
            </a:pPr>
            <a:r>
              <a:rPr b="1" lang="en-US" sz="68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Basket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7084771" y="5715000"/>
            <a:ext cx="669341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680"/>
              <a:buFont typeface="Calibri"/>
              <a:buNone/>
            </a:pPr>
            <a:r>
              <a:rPr b="1" lang="en-US" sz="68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sz="6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1"/>
          <p:cNvSpPr/>
          <p:nvPr/>
        </p:nvSpPr>
        <p:spPr>
          <a:xfrm>
            <a:off x="4251960" y="632764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Home Screen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548640" y="18288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Top Bar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1"/>
          <p:cNvSpPr/>
          <p:nvPr/>
        </p:nvSpPr>
        <p:spPr>
          <a:xfrm>
            <a:off x="548640" y="2103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Menu · Search · Profile — a single row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548640" y="31089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Middle Section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1"/>
          <p:cNvSpPr/>
          <p:nvPr/>
        </p:nvSpPr>
        <p:spPr>
          <a:xfrm>
            <a:off x="548640" y="338328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Categories, Offers, Sale Nearby stacked as tappable blocks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8275320" y="18288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Bottom Strip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8275320" y="21031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5 fixed icons for one-tap access to core actions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8275320" y="31089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Note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1"/>
          <p:cNvSpPr/>
          <p:nvPr/>
        </p:nvSpPr>
        <p:spPr>
          <a:xfrm>
            <a:off x="8275320" y="338328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Design blueprint used to build the live home screen.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MODULE WORKFLOW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2"/>
          <p:cNvSpPr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Module Workflow — User Flow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2"/>
          <p:cNvSpPr/>
          <p:nvPr/>
        </p:nvSpPr>
        <p:spPr>
          <a:xfrm>
            <a:off x="4480560" y="1600200"/>
            <a:ext cx="3200400" cy="475488"/>
          </a:xfrm>
          <a:prstGeom prst="roundRect">
            <a:avLst>
              <a:gd fmla="val 50000" name="adj"/>
            </a:avLst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2"/>
          <p:cNvSpPr/>
          <p:nvPr/>
        </p:nvSpPr>
        <p:spPr>
          <a:xfrm>
            <a:off x="4480560" y="160020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2"/>
          <p:cNvSpPr/>
          <p:nvPr/>
        </p:nvSpPr>
        <p:spPr>
          <a:xfrm>
            <a:off x="5943600" y="2075688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2"/>
          <p:cNvSpPr/>
          <p:nvPr/>
        </p:nvSpPr>
        <p:spPr>
          <a:xfrm>
            <a:off x="4480560" y="2313432"/>
            <a:ext cx="3200400" cy="475488"/>
          </a:xfrm>
          <a:prstGeom prst="roundRect">
            <a:avLst>
              <a:gd fmla="val 50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2"/>
          <p:cNvSpPr/>
          <p:nvPr/>
        </p:nvSpPr>
        <p:spPr>
          <a:xfrm>
            <a:off x="4480560" y="2313432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Login / Registration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2"/>
          <p:cNvSpPr/>
          <p:nvPr/>
        </p:nvSpPr>
        <p:spPr>
          <a:xfrm>
            <a:off x="5943600" y="2788920"/>
            <a:ext cx="320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2"/>
          <p:cNvSpPr/>
          <p:nvPr/>
        </p:nvSpPr>
        <p:spPr>
          <a:xfrm>
            <a:off x="4480560" y="3026664"/>
            <a:ext cx="3200400" cy="475488"/>
          </a:xfrm>
          <a:prstGeom prst="roundRect">
            <a:avLst>
              <a:gd fmla="val 50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4480560" y="3026664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9" name="Google Shape;609;p22"/>
          <p:cNvCxnSpPr/>
          <p:nvPr/>
        </p:nvCxnSpPr>
        <p:spPr>
          <a:xfrm>
            <a:off x="2331720" y="3465576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5C40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0" name="Google Shape;610;p22"/>
          <p:cNvSpPr/>
          <p:nvPr/>
        </p:nvSpPr>
        <p:spPr>
          <a:xfrm>
            <a:off x="548640" y="3593592"/>
            <a:ext cx="3566160" cy="1280160"/>
          </a:xfrm>
          <a:prstGeom prst="roundRect">
            <a:avLst>
              <a:gd fmla="val 7143" name="adj"/>
            </a:avLst>
          </a:prstGeom>
          <a:solidFill>
            <a:srgbClr val="EFE1D3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2"/>
          <p:cNvSpPr/>
          <p:nvPr/>
        </p:nvSpPr>
        <p:spPr>
          <a:xfrm>
            <a:off x="777240" y="377647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Search / Categories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2"/>
          <p:cNvSpPr/>
          <p:nvPr/>
        </p:nvSpPr>
        <p:spPr>
          <a:xfrm>
            <a:off x="777240" y="41605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2"/>
          <p:cNvSpPr/>
          <p:nvPr/>
        </p:nvSpPr>
        <p:spPr>
          <a:xfrm>
            <a:off x="777240" y="441655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Browse products &amp; offers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4" name="Google Shape;614;p22"/>
          <p:cNvCxnSpPr/>
          <p:nvPr/>
        </p:nvCxnSpPr>
        <p:spPr>
          <a:xfrm>
            <a:off x="6080760" y="3465576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5C40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5" name="Google Shape;615;p22"/>
          <p:cNvSpPr/>
          <p:nvPr/>
        </p:nvSpPr>
        <p:spPr>
          <a:xfrm>
            <a:off x="4297680" y="3593592"/>
            <a:ext cx="3566160" cy="1280160"/>
          </a:xfrm>
          <a:prstGeom prst="roundRect">
            <a:avLst>
              <a:gd fmla="val 7143" name="adj"/>
            </a:avLst>
          </a:prstGeom>
          <a:solidFill>
            <a:srgbClr val="EFE1D3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4526280" y="377647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Create Baiskit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4526280" y="41605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4526280" y="441655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Set budget &amp; quantity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9" name="Google Shape;619;p22"/>
          <p:cNvCxnSpPr/>
          <p:nvPr/>
        </p:nvCxnSpPr>
        <p:spPr>
          <a:xfrm>
            <a:off x="9829800" y="3465576"/>
            <a:ext cx="0" cy="128016"/>
          </a:xfrm>
          <a:prstGeom prst="straightConnector1">
            <a:avLst/>
          </a:prstGeom>
          <a:noFill/>
          <a:ln cap="flat" cmpd="sng" w="19050">
            <a:solidFill>
              <a:srgbClr val="5C403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0" name="Google Shape;620;p22"/>
          <p:cNvSpPr/>
          <p:nvPr/>
        </p:nvSpPr>
        <p:spPr>
          <a:xfrm>
            <a:off x="8046720" y="3593592"/>
            <a:ext cx="3566160" cy="1280160"/>
          </a:xfrm>
          <a:prstGeom prst="roundRect">
            <a:avLst>
              <a:gd fmla="val 7143" name="adj"/>
            </a:avLst>
          </a:prstGeom>
          <a:solidFill>
            <a:srgbClr val="EFE1D3"/>
          </a:solidFill>
          <a:ln cap="flat" cmpd="sng" w="12700">
            <a:solidFill>
              <a:srgbClr val="C9A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2"/>
          <p:cNvSpPr/>
          <p:nvPr/>
        </p:nvSpPr>
        <p:spPr>
          <a:xfrm>
            <a:off x="8275320" y="3776472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Sell / Add Product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2"/>
          <p:cNvSpPr/>
          <p:nvPr/>
        </p:nvSpPr>
        <p:spPr>
          <a:xfrm>
            <a:off x="8275320" y="41605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8275320" y="441655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List item, get verified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548640" y="5056632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Compare Results → Contact Vendor / Seller → Complete Deal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2"/>
          <p:cNvSpPr/>
          <p:nvPr/>
        </p:nvSpPr>
        <p:spPr>
          <a:xfrm>
            <a:off x="548640" y="5422392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Every path — buying or selling — leads back to a direct, trusted connection.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MODULE WORKFLOW</a:t>
            </a:r>
            <a:endParaRPr/>
          </a:p>
        </p:txBody>
      </p:sp>
      <p:sp>
        <p:nvSpPr>
          <p:cNvPr id="632" name="Google Shape;632;p23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Inside a Baiskit Request</a:t>
            </a:r>
            <a:endParaRPr/>
          </a:p>
        </p:txBody>
      </p:sp>
      <p:sp>
        <p:nvSpPr>
          <p:cNvPr id="633" name="Google Shape;633;p23"/>
          <p:cNvSpPr txBox="1"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How the Create Baiskit, Matching and Verification modules work together for one request.</a:t>
            </a:r>
            <a:endParaRPr/>
          </a:p>
        </p:txBody>
      </p:sp>
      <p:sp>
        <p:nvSpPr>
          <p:cNvPr id="634" name="Google Shape;634;p23"/>
          <p:cNvSpPr/>
          <p:nvPr/>
        </p:nvSpPr>
        <p:spPr>
          <a:xfrm>
            <a:off x="548640" y="2103120"/>
            <a:ext cx="2560320" cy="178308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3"/>
          <p:cNvSpPr/>
          <p:nvPr/>
        </p:nvSpPr>
        <p:spPr>
          <a:xfrm>
            <a:off x="731520" y="2286000"/>
            <a:ext cx="868680" cy="274320"/>
          </a:xfrm>
          <a:prstGeom prst="roundRect">
            <a:avLst>
              <a:gd fmla="val 50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3"/>
          <p:cNvSpPr txBox="1"/>
          <p:nvPr/>
        </p:nvSpPr>
        <p:spPr>
          <a:xfrm>
            <a:off x="731520" y="22860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BUYER</a:t>
            </a:r>
            <a:endParaRPr/>
          </a:p>
        </p:txBody>
      </p:sp>
      <p:sp>
        <p:nvSpPr>
          <p:cNvPr id="637" name="Google Shape;637;p23"/>
          <p:cNvSpPr txBox="1"/>
          <p:nvPr/>
        </p:nvSpPr>
        <p:spPr>
          <a:xfrm>
            <a:off x="2377440" y="2212848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C9A184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638" name="Google Shape;638;p23"/>
          <p:cNvSpPr txBox="1"/>
          <p:nvPr/>
        </p:nvSpPr>
        <p:spPr>
          <a:xfrm>
            <a:off x="731520" y="2788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Post request</a:t>
            </a:r>
            <a:endParaRPr/>
          </a:p>
        </p:txBody>
      </p:sp>
      <p:sp>
        <p:nvSpPr>
          <p:cNvPr id="639" name="Google Shape;639;p23"/>
          <p:cNvSpPr txBox="1"/>
          <p:nvPr/>
        </p:nvSpPr>
        <p:spPr>
          <a:xfrm>
            <a:off x="731520" y="3182111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Item, budget, quantity, location</a:t>
            </a:r>
            <a:endParaRPr/>
          </a:p>
        </p:txBody>
      </p:sp>
      <p:sp>
        <p:nvSpPr>
          <p:cNvPr id="640" name="Google Shape;640;p23"/>
          <p:cNvSpPr txBox="1"/>
          <p:nvPr/>
        </p:nvSpPr>
        <p:spPr>
          <a:xfrm>
            <a:off x="3108960" y="2788920"/>
            <a:ext cx="256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641" name="Google Shape;641;p23"/>
          <p:cNvSpPr/>
          <p:nvPr/>
        </p:nvSpPr>
        <p:spPr>
          <a:xfrm>
            <a:off x="3364992" y="2103120"/>
            <a:ext cx="2560320" cy="178308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3"/>
          <p:cNvSpPr/>
          <p:nvPr/>
        </p:nvSpPr>
        <p:spPr>
          <a:xfrm>
            <a:off x="3547872" y="2286000"/>
            <a:ext cx="868680" cy="274320"/>
          </a:xfrm>
          <a:prstGeom prst="roundRect">
            <a:avLst>
              <a:gd fmla="val 50000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3"/>
          <p:cNvSpPr txBox="1"/>
          <p:nvPr/>
        </p:nvSpPr>
        <p:spPr>
          <a:xfrm>
            <a:off x="3547872" y="22860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644" name="Google Shape;644;p23"/>
          <p:cNvSpPr txBox="1"/>
          <p:nvPr/>
        </p:nvSpPr>
        <p:spPr>
          <a:xfrm>
            <a:off x="5193792" y="2212848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C9A184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645" name="Google Shape;645;p23"/>
          <p:cNvSpPr txBox="1"/>
          <p:nvPr/>
        </p:nvSpPr>
        <p:spPr>
          <a:xfrm>
            <a:off x="3547872" y="2788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Validate &amp; geo-filter</a:t>
            </a:r>
            <a:endParaRPr/>
          </a:p>
        </p:txBody>
      </p:sp>
      <p:sp>
        <p:nvSpPr>
          <p:cNvPr id="646" name="Google Shape;646;p23"/>
          <p:cNvSpPr txBox="1"/>
          <p:nvPr/>
        </p:nvSpPr>
        <p:spPr>
          <a:xfrm>
            <a:off x="3547872" y="3182111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Find sellers in the category within radius</a:t>
            </a:r>
            <a:endParaRPr/>
          </a:p>
        </p:txBody>
      </p:sp>
      <p:sp>
        <p:nvSpPr>
          <p:cNvPr id="647" name="Google Shape;647;p23"/>
          <p:cNvSpPr txBox="1"/>
          <p:nvPr/>
        </p:nvSpPr>
        <p:spPr>
          <a:xfrm>
            <a:off x="5925312" y="2788920"/>
            <a:ext cx="256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648" name="Google Shape;648;p23"/>
          <p:cNvSpPr/>
          <p:nvPr/>
        </p:nvSpPr>
        <p:spPr>
          <a:xfrm>
            <a:off x="6181344" y="2103120"/>
            <a:ext cx="2560320" cy="178308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3"/>
          <p:cNvSpPr/>
          <p:nvPr/>
        </p:nvSpPr>
        <p:spPr>
          <a:xfrm>
            <a:off x="6364224" y="2286000"/>
            <a:ext cx="868680" cy="274320"/>
          </a:xfrm>
          <a:prstGeom prst="roundRect">
            <a:avLst>
              <a:gd fmla="val 50000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3"/>
          <p:cNvSpPr txBox="1"/>
          <p:nvPr/>
        </p:nvSpPr>
        <p:spPr>
          <a:xfrm>
            <a:off x="6364224" y="22860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651" name="Google Shape;651;p23"/>
          <p:cNvSpPr txBox="1"/>
          <p:nvPr/>
        </p:nvSpPr>
        <p:spPr>
          <a:xfrm>
            <a:off x="8010144" y="2212848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C9A184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sp>
        <p:nvSpPr>
          <p:cNvPr id="652" name="Google Shape;652;p23"/>
          <p:cNvSpPr txBox="1"/>
          <p:nvPr/>
        </p:nvSpPr>
        <p:spPr>
          <a:xfrm>
            <a:off x="6364224" y="2788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Notify sellers</a:t>
            </a:r>
            <a:endParaRPr/>
          </a:p>
        </p:txBody>
      </p:sp>
      <p:sp>
        <p:nvSpPr>
          <p:cNvPr id="653" name="Google Shape;653;p23"/>
          <p:cNvSpPr txBox="1"/>
          <p:nvPr/>
        </p:nvSpPr>
        <p:spPr>
          <a:xfrm>
            <a:off x="6364224" y="3182111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Vendors, providers &amp; resellers get an alert</a:t>
            </a:r>
            <a:endParaRPr/>
          </a:p>
        </p:txBody>
      </p:sp>
      <p:sp>
        <p:nvSpPr>
          <p:cNvPr id="654" name="Google Shape;654;p23"/>
          <p:cNvSpPr txBox="1"/>
          <p:nvPr/>
        </p:nvSpPr>
        <p:spPr>
          <a:xfrm>
            <a:off x="8741663" y="2788920"/>
            <a:ext cx="256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655" name="Google Shape;655;p23"/>
          <p:cNvSpPr/>
          <p:nvPr/>
        </p:nvSpPr>
        <p:spPr>
          <a:xfrm>
            <a:off x="8997696" y="2103120"/>
            <a:ext cx="2560320" cy="178308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3"/>
          <p:cNvSpPr/>
          <p:nvPr/>
        </p:nvSpPr>
        <p:spPr>
          <a:xfrm>
            <a:off x="9180576" y="2286000"/>
            <a:ext cx="868680" cy="274320"/>
          </a:xfrm>
          <a:prstGeom prst="roundRect">
            <a:avLst>
              <a:gd fmla="val 50000" name="adj"/>
            </a:avLst>
          </a:prstGeom>
          <a:solidFill>
            <a:srgbClr val="8C6A5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3"/>
          <p:cNvSpPr txBox="1"/>
          <p:nvPr/>
        </p:nvSpPr>
        <p:spPr>
          <a:xfrm>
            <a:off x="9180576" y="228600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SELLERS</a:t>
            </a:r>
            <a:endParaRPr/>
          </a:p>
        </p:txBody>
      </p:sp>
      <p:sp>
        <p:nvSpPr>
          <p:cNvPr id="658" name="Google Shape;658;p23"/>
          <p:cNvSpPr txBox="1"/>
          <p:nvPr/>
        </p:nvSpPr>
        <p:spPr>
          <a:xfrm>
            <a:off x="10826496" y="2212848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C9A184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/>
          </a:p>
        </p:txBody>
      </p:sp>
      <p:sp>
        <p:nvSpPr>
          <p:cNvPr id="659" name="Google Shape;659;p23"/>
          <p:cNvSpPr txBox="1"/>
          <p:nvPr/>
        </p:nvSpPr>
        <p:spPr>
          <a:xfrm>
            <a:off x="9180576" y="2788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Send offers</a:t>
            </a:r>
            <a:endParaRPr/>
          </a:p>
        </p:txBody>
      </p:sp>
      <p:sp>
        <p:nvSpPr>
          <p:cNvPr id="660" name="Google Shape;660;p23"/>
          <p:cNvSpPr txBox="1"/>
          <p:nvPr/>
        </p:nvSpPr>
        <p:spPr>
          <a:xfrm>
            <a:off x="9180576" y="3182111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Price, availability, pickup / delivery</a:t>
            </a:r>
            <a:endParaRPr/>
          </a:p>
        </p:txBody>
      </p:sp>
      <p:sp>
        <p:nvSpPr>
          <p:cNvPr id="661" name="Google Shape;661;p23"/>
          <p:cNvSpPr/>
          <p:nvPr/>
        </p:nvSpPr>
        <p:spPr>
          <a:xfrm>
            <a:off x="548640" y="4114800"/>
            <a:ext cx="2560320" cy="178308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3"/>
          <p:cNvSpPr/>
          <p:nvPr/>
        </p:nvSpPr>
        <p:spPr>
          <a:xfrm>
            <a:off x="731520" y="4297680"/>
            <a:ext cx="868680" cy="274320"/>
          </a:xfrm>
          <a:prstGeom prst="roundRect">
            <a:avLst>
              <a:gd fmla="val 50000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3"/>
          <p:cNvSpPr txBox="1"/>
          <p:nvPr/>
        </p:nvSpPr>
        <p:spPr>
          <a:xfrm>
            <a:off x="731520" y="429768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664" name="Google Shape;664;p23"/>
          <p:cNvSpPr txBox="1"/>
          <p:nvPr/>
        </p:nvSpPr>
        <p:spPr>
          <a:xfrm>
            <a:off x="2377440" y="4224528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C9A184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/>
          </a:p>
        </p:txBody>
      </p:sp>
      <p:sp>
        <p:nvSpPr>
          <p:cNvPr id="665" name="Google Shape;665;p23"/>
          <p:cNvSpPr txBox="1"/>
          <p:nvPr/>
        </p:nvSpPr>
        <p:spPr>
          <a:xfrm>
            <a:off x="731520" y="4800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Rank offers</a:t>
            </a:r>
            <a:endParaRPr/>
          </a:p>
        </p:txBody>
      </p:sp>
      <p:sp>
        <p:nvSpPr>
          <p:cNvPr id="666" name="Google Shape;666;p23"/>
          <p:cNvSpPr txBox="1"/>
          <p:nvPr/>
        </p:nvSpPr>
        <p:spPr>
          <a:xfrm>
            <a:off x="731520" y="519379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Score on price, distance and trust badge</a:t>
            </a:r>
            <a:endParaRPr/>
          </a:p>
        </p:txBody>
      </p:sp>
      <p:sp>
        <p:nvSpPr>
          <p:cNvPr id="667" name="Google Shape;667;p23"/>
          <p:cNvSpPr txBox="1"/>
          <p:nvPr/>
        </p:nvSpPr>
        <p:spPr>
          <a:xfrm>
            <a:off x="3108960" y="4800600"/>
            <a:ext cx="256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668" name="Google Shape;668;p23"/>
          <p:cNvSpPr/>
          <p:nvPr/>
        </p:nvSpPr>
        <p:spPr>
          <a:xfrm>
            <a:off x="3364992" y="4114800"/>
            <a:ext cx="2560320" cy="178308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3"/>
          <p:cNvSpPr/>
          <p:nvPr/>
        </p:nvSpPr>
        <p:spPr>
          <a:xfrm>
            <a:off x="3547872" y="4297680"/>
            <a:ext cx="868680" cy="274320"/>
          </a:xfrm>
          <a:prstGeom prst="roundRect">
            <a:avLst>
              <a:gd fmla="val 50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3"/>
          <p:cNvSpPr txBox="1"/>
          <p:nvPr/>
        </p:nvSpPr>
        <p:spPr>
          <a:xfrm>
            <a:off x="3547872" y="429768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BUYER</a:t>
            </a:r>
            <a:endParaRPr/>
          </a:p>
        </p:txBody>
      </p:sp>
      <p:sp>
        <p:nvSpPr>
          <p:cNvPr id="671" name="Google Shape;671;p23"/>
          <p:cNvSpPr txBox="1"/>
          <p:nvPr/>
        </p:nvSpPr>
        <p:spPr>
          <a:xfrm>
            <a:off x="5193792" y="4224528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C9A184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/>
          </a:p>
        </p:txBody>
      </p:sp>
      <p:sp>
        <p:nvSpPr>
          <p:cNvPr id="672" name="Google Shape;672;p23"/>
          <p:cNvSpPr txBox="1"/>
          <p:nvPr/>
        </p:nvSpPr>
        <p:spPr>
          <a:xfrm>
            <a:off x="3547872" y="4800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Compare matches</a:t>
            </a:r>
            <a:endParaRPr/>
          </a:p>
        </p:txBody>
      </p:sp>
      <p:sp>
        <p:nvSpPr>
          <p:cNvPr id="673" name="Google Shape;673;p23"/>
          <p:cNvSpPr txBox="1"/>
          <p:nvPr/>
        </p:nvSpPr>
        <p:spPr>
          <a:xfrm>
            <a:off x="3547872" y="519379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Over-budget offers filtered out</a:t>
            </a:r>
            <a:endParaRPr/>
          </a:p>
        </p:txBody>
      </p:sp>
      <p:sp>
        <p:nvSpPr>
          <p:cNvPr id="674" name="Google Shape;674;p23"/>
          <p:cNvSpPr txBox="1"/>
          <p:nvPr/>
        </p:nvSpPr>
        <p:spPr>
          <a:xfrm>
            <a:off x="5925312" y="4800600"/>
            <a:ext cx="256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675" name="Google Shape;675;p23"/>
          <p:cNvSpPr/>
          <p:nvPr/>
        </p:nvSpPr>
        <p:spPr>
          <a:xfrm>
            <a:off x="6181344" y="4114800"/>
            <a:ext cx="2560320" cy="178308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3"/>
          <p:cNvSpPr/>
          <p:nvPr/>
        </p:nvSpPr>
        <p:spPr>
          <a:xfrm>
            <a:off x="6364224" y="4297680"/>
            <a:ext cx="868680" cy="274320"/>
          </a:xfrm>
          <a:prstGeom prst="roundRect">
            <a:avLst>
              <a:gd fmla="val 50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3"/>
          <p:cNvSpPr txBox="1"/>
          <p:nvPr/>
        </p:nvSpPr>
        <p:spPr>
          <a:xfrm>
            <a:off x="6364224" y="429768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BUYER</a:t>
            </a:r>
            <a:endParaRPr/>
          </a:p>
        </p:txBody>
      </p:sp>
      <p:sp>
        <p:nvSpPr>
          <p:cNvPr id="678" name="Google Shape;678;p23"/>
          <p:cNvSpPr txBox="1"/>
          <p:nvPr/>
        </p:nvSpPr>
        <p:spPr>
          <a:xfrm>
            <a:off x="8010144" y="4224528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C9A184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/>
          </a:p>
        </p:txBody>
      </p:sp>
      <p:sp>
        <p:nvSpPr>
          <p:cNvPr id="679" name="Google Shape;679;p23"/>
          <p:cNvSpPr txBox="1"/>
          <p:nvPr/>
        </p:nvSpPr>
        <p:spPr>
          <a:xfrm>
            <a:off x="6364224" y="4800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Contact &amp; deal</a:t>
            </a:r>
            <a:endParaRPr/>
          </a:p>
        </p:txBody>
      </p:sp>
      <p:sp>
        <p:nvSpPr>
          <p:cNvPr id="680" name="Google Shape;680;p23"/>
          <p:cNvSpPr txBox="1"/>
          <p:nvPr/>
        </p:nvSpPr>
        <p:spPr>
          <a:xfrm>
            <a:off x="6364224" y="519379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Chat or call the chosen seller</a:t>
            </a:r>
            <a:endParaRPr/>
          </a:p>
        </p:txBody>
      </p:sp>
      <p:sp>
        <p:nvSpPr>
          <p:cNvPr id="681" name="Google Shape;681;p23"/>
          <p:cNvSpPr txBox="1"/>
          <p:nvPr/>
        </p:nvSpPr>
        <p:spPr>
          <a:xfrm>
            <a:off x="8741663" y="4800600"/>
            <a:ext cx="2560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sp>
        <p:nvSpPr>
          <p:cNvPr id="682" name="Google Shape;682;p23"/>
          <p:cNvSpPr/>
          <p:nvPr/>
        </p:nvSpPr>
        <p:spPr>
          <a:xfrm>
            <a:off x="8997696" y="4114800"/>
            <a:ext cx="2560320" cy="178308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3"/>
          <p:cNvSpPr/>
          <p:nvPr/>
        </p:nvSpPr>
        <p:spPr>
          <a:xfrm>
            <a:off x="9180576" y="4297680"/>
            <a:ext cx="868680" cy="274320"/>
          </a:xfrm>
          <a:prstGeom prst="roundRect">
            <a:avLst>
              <a:gd fmla="val 50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3"/>
          <p:cNvSpPr txBox="1"/>
          <p:nvPr/>
        </p:nvSpPr>
        <p:spPr>
          <a:xfrm>
            <a:off x="9180576" y="429768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BUYER</a:t>
            </a:r>
            <a:endParaRPr/>
          </a:p>
        </p:txBody>
      </p:sp>
      <p:sp>
        <p:nvSpPr>
          <p:cNvPr id="685" name="Google Shape;685;p23"/>
          <p:cNvSpPr txBox="1"/>
          <p:nvPr/>
        </p:nvSpPr>
        <p:spPr>
          <a:xfrm>
            <a:off x="10826496" y="4224528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>
                <a:solidFill>
                  <a:srgbClr val="C9A184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/>
          </a:p>
        </p:txBody>
      </p:sp>
      <p:sp>
        <p:nvSpPr>
          <p:cNvPr id="686" name="Google Shape;686;p23"/>
          <p:cNvSpPr txBox="1"/>
          <p:nvPr/>
        </p:nvSpPr>
        <p:spPr>
          <a:xfrm>
            <a:off x="9180576" y="4800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Rate seller</a:t>
            </a:r>
            <a:endParaRPr/>
          </a:p>
        </p:txBody>
      </p:sp>
      <p:sp>
        <p:nvSpPr>
          <p:cNvPr id="687" name="Google Shape;687;p23"/>
          <p:cNvSpPr txBox="1"/>
          <p:nvPr/>
        </p:nvSpPr>
        <p:spPr>
          <a:xfrm>
            <a:off x="9180576" y="5193792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Feeds the seller's trust score</a:t>
            </a:r>
            <a:endParaRPr/>
          </a:p>
        </p:txBody>
      </p:sp>
      <p:sp>
        <p:nvSpPr>
          <p:cNvPr id="688" name="Google Shape;688;p2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4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4"/>
          <p:cNvSpPr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4"/>
          <p:cNvSpPr/>
          <p:nvPr/>
        </p:nvSpPr>
        <p:spPr>
          <a:xfrm>
            <a:off x="548640" y="1600200"/>
            <a:ext cx="5349240" cy="530352"/>
          </a:xfrm>
          <a:prstGeom prst="roundRect">
            <a:avLst>
              <a:gd fmla="val 13793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4"/>
          <p:cNvSpPr/>
          <p:nvPr/>
        </p:nvSpPr>
        <p:spPr>
          <a:xfrm>
            <a:off x="777240" y="1600200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(App)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4"/>
          <p:cNvSpPr/>
          <p:nvPr/>
        </p:nvSpPr>
        <p:spPr>
          <a:xfrm>
            <a:off x="2788920" y="1600200"/>
            <a:ext cx="2880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BE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5EBE0"/>
                </a:solidFill>
                <a:latin typeface="Calibri"/>
                <a:ea typeface="Calibri"/>
                <a:cs typeface="Calibri"/>
                <a:sym typeface="Calibri"/>
              </a:rPr>
              <a:t>React Native / Flutter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4"/>
          <p:cNvSpPr/>
          <p:nvPr/>
        </p:nvSpPr>
        <p:spPr>
          <a:xfrm>
            <a:off x="6309360" y="1600200"/>
            <a:ext cx="5349240" cy="530352"/>
          </a:xfrm>
          <a:prstGeom prst="roundRect">
            <a:avLst>
              <a:gd fmla="val 13793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4"/>
          <p:cNvSpPr/>
          <p:nvPr/>
        </p:nvSpPr>
        <p:spPr>
          <a:xfrm>
            <a:off x="6537960" y="1600200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(Web)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4"/>
          <p:cNvSpPr/>
          <p:nvPr/>
        </p:nvSpPr>
        <p:spPr>
          <a:xfrm>
            <a:off x="8549640" y="1600200"/>
            <a:ext cx="2880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BE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5EBE0"/>
                </a:solidFill>
                <a:latin typeface="Calibri"/>
                <a:ea typeface="Calibri"/>
                <a:cs typeface="Calibri"/>
                <a:sym typeface="Calibri"/>
              </a:rPr>
              <a:t>React.js + Tailwind CSS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4"/>
          <p:cNvSpPr/>
          <p:nvPr/>
        </p:nvSpPr>
        <p:spPr>
          <a:xfrm>
            <a:off x="548640" y="2276856"/>
            <a:ext cx="5349240" cy="530352"/>
          </a:xfrm>
          <a:prstGeom prst="roundRect">
            <a:avLst>
              <a:gd fmla="val 13793" name="adj"/>
            </a:avLst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4"/>
          <p:cNvSpPr/>
          <p:nvPr/>
        </p:nvSpPr>
        <p:spPr>
          <a:xfrm>
            <a:off x="777240" y="2276856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4"/>
          <p:cNvSpPr/>
          <p:nvPr/>
        </p:nvSpPr>
        <p:spPr>
          <a:xfrm>
            <a:off x="2788920" y="2276856"/>
            <a:ext cx="2880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BE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5EBE0"/>
                </a:solidFill>
                <a:latin typeface="Calibri"/>
                <a:ea typeface="Calibri"/>
                <a:cs typeface="Calibri"/>
                <a:sym typeface="Calibri"/>
              </a:rPr>
              <a:t>Node.js + Express.js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4"/>
          <p:cNvSpPr/>
          <p:nvPr/>
        </p:nvSpPr>
        <p:spPr>
          <a:xfrm>
            <a:off x="6309360" y="2276856"/>
            <a:ext cx="5349240" cy="530352"/>
          </a:xfrm>
          <a:prstGeom prst="roundRect">
            <a:avLst>
              <a:gd fmla="val 13793" name="adj"/>
            </a:avLst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4"/>
          <p:cNvSpPr/>
          <p:nvPr/>
        </p:nvSpPr>
        <p:spPr>
          <a:xfrm>
            <a:off x="6537960" y="2276856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4"/>
          <p:cNvSpPr/>
          <p:nvPr/>
        </p:nvSpPr>
        <p:spPr>
          <a:xfrm>
            <a:off x="8549640" y="2276856"/>
            <a:ext cx="2880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BE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5EBE0"/>
                </a:solidFill>
                <a:latin typeface="Calibri"/>
                <a:ea typeface="Calibri"/>
                <a:cs typeface="Calibri"/>
                <a:sym typeface="Calibri"/>
              </a:rPr>
              <a:t>PostgreSQL / MongoDB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4"/>
          <p:cNvSpPr/>
          <p:nvPr/>
        </p:nvSpPr>
        <p:spPr>
          <a:xfrm>
            <a:off x="548640" y="2953512"/>
            <a:ext cx="5349240" cy="530352"/>
          </a:xfrm>
          <a:prstGeom prst="roundRect">
            <a:avLst>
              <a:gd fmla="val 13793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4"/>
          <p:cNvSpPr/>
          <p:nvPr/>
        </p:nvSpPr>
        <p:spPr>
          <a:xfrm>
            <a:off x="777240" y="2953512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Price Aggregation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4"/>
          <p:cNvSpPr/>
          <p:nvPr/>
        </p:nvSpPr>
        <p:spPr>
          <a:xfrm>
            <a:off x="2788920" y="2953512"/>
            <a:ext cx="2880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BE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5EBE0"/>
                </a:solidFill>
                <a:latin typeface="Calibri"/>
                <a:ea typeface="Calibri"/>
                <a:cs typeface="Calibri"/>
                <a:sym typeface="Calibri"/>
              </a:rPr>
              <a:t>Web scraping + vendor API integrations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4"/>
          <p:cNvSpPr/>
          <p:nvPr/>
        </p:nvSpPr>
        <p:spPr>
          <a:xfrm>
            <a:off x="6309360" y="2953512"/>
            <a:ext cx="5349240" cy="530352"/>
          </a:xfrm>
          <a:prstGeom prst="roundRect">
            <a:avLst>
              <a:gd fmla="val 13793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4"/>
          <p:cNvSpPr/>
          <p:nvPr/>
        </p:nvSpPr>
        <p:spPr>
          <a:xfrm>
            <a:off x="6537960" y="2953512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Verification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4"/>
          <p:cNvSpPr/>
          <p:nvPr/>
        </p:nvSpPr>
        <p:spPr>
          <a:xfrm>
            <a:off x="8549640" y="2953512"/>
            <a:ext cx="2880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BE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5EBE0"/>
                </a:solidFill>
                <a:latin typeface="Calibri"/>
                <a:ea typeface="Calibri"/>
                <a:cs typeface="Calibri"/>
                <a:sym typeface="Calibri"/>
              </a:rPr>
              <a:t>KYC/document check + trust-score service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4"/>
          <p:cNvSpPr/>
          <p:nvPr/>
        </p:nvSpPr>
        <p:spPr>
          <a:xfrm>
            <a:off x="548640" y="3630168"/>
            <a:ext cx="5349240" cy="530352"/>
          </a:xfrm>
          <a:prstGeom prst="roundRect">
            <a:avLst>
              <a:gd fmla="val 13793" name="adj"/>
            </a:avLst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4"/>
          <p:cNvSpPr/>
          <p:nvPr/>
        </p:nvSpPr>
        <p:spPr>
          <a:xfrm>
            <a:off x="777240" y="3630168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Baiskit Matching Engine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4"/>
          <p:cNvSpPr/>
          <p:nvPr/>
        </p:nvSpPr>
        <p:spPr>
          <a:xfrm>
            <a:off x="2788920" y="3630168"/>
            <a:ext cx="2880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BE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5EBE0"/>
                </a:solidFill>
                <a:latin typeface="Calibri"/>
                <a:ea typeface="Calibri"/>
                <a:cs typeface="Calibri"/>
                <a:sym typeface="Calibri"/>
              </a:rPr>
              <a:t>Python — rule-based + ML ranking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4"/>
          <p:cNvSpPr/>
          <p:nvPr/>
        </p:nvSpPr>
        <p:spPr>
          <a:xfrm>
            <a:off x="6309360" y="3630168"/>
            <a:ext cx="5349240" cy="530352"/>
          </a:xfrm>
          <a:prstGeom prst="roundRect">
            <a:avLst>
              <a:gd fmla="val 13793" name="adj"/>
            </a:avLst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4"/>
          <p:cNvSpPr/>
          <p:nvPr/>
        </p:nvSpPr>
        <p:spPr>
          <a:xfrm>
            <a:off x="6537960" y="3630168"/>
            <a:ext cx="19659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4"/>
          <p:cNvSpPr/>
          <p:nvPr/>
        </p:nvSpPr>
        <p:spPr>
          <a:xfrm>
            <a:off x="8549640" y="3630168"/>
            <a:ext cx="2880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EBE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5EBE0"/>
                </a:solidFill>
                <a:latin typeface="Calibri"/>
                <a:ea typeface="Calibri"/>
                <a:cs typeface="Calibri"/>
                <a:sym typeface="Calibri"/>
              </a:rPr>
              <a:t>AWS / GCP + Vercel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4"/>
          <p:cNvSpPr/>
          <p:nvPr/>
        </p:nvSpPr>
        <p:spPr>
          <a:xfrm>
            <a:off x="548640" y="5623560"/>
            <a:ext cx="11109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Additional: Git/GitHub for version control  ·  REST APIs for service communication  ·  Push notifications for baiskit matches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25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IMPLEMENTATION &amp; CODING</a:t>
            </a:r>
            <a:endParaRPr/>
          </a:p>
        </p:txBody>
      </p:sp>
      <p:sp>
        <p:nvSpPr>
          <p:cNvPr id="728" name="Google Shape;728;p25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Core Logic: Matching a Baiskit</a:t>
            </a:r>
            <a:endParaRPr/>
          </a:p>
        </p:txBody>
      </p:sp>
      <p:sp>
        <p:nvSpPr>
          <p:cNvPr id="729" name="Google Shape;729;p25"/>
          <p:cNvSpPr/>
          <p:nvPr/>
        </p:nvSpPr>
        <p:spPr>
          <a:xfrm>
            <a:off x="548640" y="1508760"/>
            <a:ext cx="6675120" cy="3154680"/>
          </a:xfrm>
          <a:prstGeom prst="roundRect">
            <a:avLst>
              <a:gd fmla="val 4000" name="adj"/>
            </a:avLst>
          </a:prstGeom>
          <a:solidFill>
            <a:srgbClr val="2B1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5"/>
          <p:cNvSpPr txBox="1"/>
          <p:nvPr/>
        </p:nvSpPr>
        <p:spPr>
          <a:xfrm>
            <a:off x="777240" y="1645919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9A184"/>
                </a:solidFill>
                <a:latin typeface="Courier New"/>
                <a:ea typeface="Courier New"/>
                <a:cs typeface="Courier New"/>
                <a:sym typeface="Courier New"/>
              </a:rPr>
              <a:t>matchEngine.js</a:t>
            </a:r>
            <a:endParaRPr/>
          </a:p>
        </p:txBody>
      </p:sp>
      <p:sp>
        <p:nvSpPr>
          <p:cNvPr id="731" name="Google Shape;731;p25"/>
          <p:cNvSpPr txBox="1"/>
          <p:nvPr/>
        </p:nvSpPr>
        <p:spPr>
          <a:xfrm>
            <a:off x="777240" y="1965960"/>
            <a:ext cx="621792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function rankOffers(req, offers) {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  return offers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    .filter(o =&gt; o.price &lt;= req.budget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      &amp;&amp; o.qty &gt;= req.qty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      &amp;&amp; distanceKm(req.loc, o.loc) &lt;= req.radiusKm)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    .map(o =&gt; ({ ...o, score: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        0.5 * (1 - o.price / req.budget)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      + 0.3 * (1 - distanceKm(req.loc, o.loc) / req.radiusKm)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      + 0.2 * (o.verified ? o.rating / 5 : 0) }))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    .sort((a, b) =&gt; b.score - a.score);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732" name="Google Shape;732;p25"/>
          <p:cNvSpPr/>
          <p:nvPr/>
        </p:nvSpPr>
        <p:spPr>
          <a:xfrm>
            <a:off x="548640" y="4800600"/>
            <a:ext cx="6675120" cy="1600200"/>
          </a:xfrm>
          <a:prstGeom prst="roundRect">
            <a:avLst>
              <a:gd fmla="val 4000" name="adj"/>
            </a:avLst>
          </a:prstGeom>
          <a:solidFill>
            <a:srgbClr val="2B1F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5"/>
          <p:cNvSpPr txBox="1"/>
          <p:nvPr/>
        </p:nvSpPr>
        <p:spPr>
          <a:xfrm>
            <a:off x="777240" y="4937760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9A184"/>
                </a:solidFill>
                <a:latin typeface="Courier New"/>
                <a:ea typeface="Courier New"/>
                <a:cs typeface="Courier New"/>
                <a:sym typeface="Courier New"/>
              </a:rPr>
              <a:t>routes/baiskit.js</a:t>
            </a:r>
            <a:endParaRPr/>
          </a:p>
        </p:txBody>
      </p:sp>
      <p:sp>
        <p:nvSpPr>
          <p:cNvPr id="734" name="Google Shape;734;p25"/>
          <p:cNvSpPr txBox="1"/>
          <p:nvPr/>
        </p:nvSpPr>
        <p:spPr>
          <a:xfrm>
            <a:off x="777240" y="5257800"/>
            <a:ext cx="62179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router.post('/baiskit', auth, async (req, res) =&gt; {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  const b = await Baiskit.create({ ...req.body, buyer: req.user.id });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  await notifyNearbySellers(b);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0DCC8"/>
                </a:solidFill>
                <a:latin typeface="Courier New"/>
                <a:ea typeface="Courier New"/>
                <a:cs typeface="Courier New"/>
                <a:sym typeface="Courier New"/>
              </a:rPr>
              <a:t>  res.status(201).json(b); });</a:t>
            </a:r>
            <a:endParaRPr/>
          </a:p>
        </p:txBody>
      </p:sp>
      <p:sp>
        <p:nvSpPr>
          <p:cNvPr id="735" name="Google Shape;735;p25"/>
          <p:cNvSpPr/>
          <p:nvPr/>
        </p:nvSpPr>
        <p:spPr>
          <a:xfrm>
            <a:off x="7498079" y="1508760"/>
            <a:ext cx="4114800" cy="109728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5"/>
          <p:cNvSpPr/>
          <p:nvPr/>
        </p:nvSpPr>
        <p:spPr>
          <a:xfrm>
            <a:off x="7680960" y="178308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5"/>
          <p:cNvSpPr txBox="1"/>
          <p:nvPr/>
        </p:nvSpPr>
        <p:spPr>
          <a:xfrm>
            <a:off x="768096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738" name="Google Shape;738;p25"/>
          <p:cNvSpPr txBox="1"/>
          <p:nvPr/>
        </p:nvSpPr>
        <p:spPr>
          <a:xfrm>
            <a:off x="8412480" y="1645919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Filter</a:t>
            </a:r>
            <a:endParaRPr/>
          </a:p>
        </p:txBody>
      </p:sp>
      <p:sp>
        <p:nvSpPr>
          <p:cNvPr id="739" name="Google Shape;739;p25"/>
          <p:cNvSpPr txBox="1"/>
          <p:nvPr/>
        </p:nvSpPr>
        <p:spPr>
          <a:xfrm>
            <a:off x="8412480" y="1965960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Drop offers above budget, short on quantity, or outside the search radius</a:t>
            </a:r>
            <a:endParaRPr/>
          </a:p>
        </p:txBody>
      </p:sp>
      <p:sp>
        <p:nvSpPr>
          <p:cNvPr id="740" name="Google Shape;740;p25"/>
          <p:cNvSpPr/>
          <p:nvPr/>
        </p:nvSpPr>
        <p:spPr>
          <a:xfrm>
            <a:off x="7498079" y="2752344"/>
            <a:ext cx="4114800" cy="109728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5"/>
          <p:cNvSpPr/>
          <p:nvPr/>
        </p:nvSpPr>
        <p:spPr>
          <a:xfrm>
            <a:off x="7680960" y="3026663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5"/>
          <p:cNvSpPr txBox="1"/>
          <p:nvPr/>
        </p:nvSpPr>
        <p:spPr>
          <a:xfrm>
            <a:off x="7680960" y="3026663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743" name="Google Shape;743;p25"/>
          <p:cNvSpPr txBox="1"/>
          <p:nvPr/>
        </p:nvSpPr>
        <p:spPr>
          <a:xfrm>
            <a:off x="8412480" y="2889503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Score</a:t>
            </a:r>
            <a:endParaRPr/>
          </a:p>
        </p:txBody>
      </p:sp>
      <p:sp>
        <p:nvSpPr>
          <p:cNvPr id="744" name="Google Shape;744;p25"/>
          <p:cNvSpPr txBox="1"/>
          <p:nvPr/>
        </p:nvSpPr>
        <p:spPr>
          <a:xfrm>
            <a:off x="8412480" y="3209544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50% price saving, 30% proximity, 20% verified rating</a:t>
            </a:r>
            <a:endParaRPr/>
          </a:p>
        </p:txBody>
      </p:sp>
      <p:sp>
        <p:nvSpPr>
          <p:cNvPr id="745" name="Google Shape;745;p25"/>
          <p:cNvSpPr/>
          <p:nvPr/>
        </p:nvSpPr>
        <p:spPr>
          <a:xfrm>
            <a:off x="7498079" y="3995928"/>
            <a:ext cx="4114800" cy="109728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5"/>
          <p:cNvSpPr/>
          <p:nvPr/>
        </p:nvSpPr>
        <p:spPr>
          <a:xfrm>
            <a:off x="7680960" y="4270248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5"/>
          <p:cNvSpPr txBox="1"/>
          <p:nvPr/>
        </p:nvSpPr>
        <p:spPr>
          <a:xfrm>
            <a:off x="7680960" y="42702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sp>
        <p:nvSpPr>
          <p:cNvPr id="748" name="Google Shape;748;p25"/>
          <p:cNvSpPr txBox="1"/>
          <p:nvPr/>
        </p:nvSpPr>
        <p:spPr>
          <a:xfrm>
            <a:off x="8412480" y="4133088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Sort</a:t>
            </a:r>
            <a:endParaRPr/>
          </a:p>
        </p:txBody>
      </p:sp>
      <p:sp>
        <p:nvSpPr>
          <p:cNvPr id="749" name="Google Shape;749;p25"/>
          <p:cNvSpPr txBox="1"/>
          <p:nvPr/>
        </p:nvSpPr>
        <p:spPr>
          <a:xfrm>
            <a:off x="8412480" y="4453128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Highest score first — what the buyer sees as Best Match</a:t>
            </a:r>
            <a:endParaRPr/>
          </a:p>
        </p:txBody>
      </p:sp>
      <p:sp>
        <p:nvSpPr>
          <p:cNvPr id="750" name="Google Shape;750;p25"/>
          <p:cNvSpPr/>
          <p:nvPr/>
        </p:nvSpPr>
        <p:spPr>
          <a:xfrm>
            <a:off x="7498079" y="5239512"/>
            <a:ext cx="4114800" cy="109728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5"/>
          <p:cNvSpPr/>
          <p:nvPr/>
        </p:nvSpPr>
        <p:spPr>
          <a:xfrm>
            <a:off x="7680960" y="5513832"/>
            <a:ext cx="548640" cy="548640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5"/>
          <p:cNvSpPr txBox="1"/>
          <p:nvPr/>
        </p:nvSpPr>
        <p:spPr>
          <a:xfrm>
            <a:off x="7680960" y="551383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/>
          </a:p>
        </p:txBody>
      </p:sp>
      <p:sp>
        <p:nvSpPr>
          <p:cNvPr id="753" name="Google Shape;753;p25"/>
          <p:cNvSpPr txBox="1"/>
          <p:nvPr/>
        </p:nvSpPr>
        <p:spPr>
          <a:xfrm>
            <a:off x="8412480" y="5376672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API</a:t>
            </a:r>
            <a:endParaRPr/>
          </a:p>
        </p:txBody>
      </p:sp>
      <p:sp>
        <p:nvSpPr>
          <p:cNvPr id="754" name="Google Shape;754;p25"/>
          <p:cNvSpPr txBox="1"/>
          <p:nvPr/>
        </p:nvSpPr>
        <p:spPr>
          <a:xfrm>
            <a:off x="8412480" y="569671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Saving a baiskit triggers alerts to nearby sellers</a:t>
            </a:r>
            <a:endParaRPr/>
          </a:p>
        </p:txBody>
      </p:sp>
      <p:sp>
        <p:nvSpPr>
          <p:cNvPr id="755" name="Google Shape;755;p2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6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DEMO VIDEO</a:t>
            </a:r>
            <a:endParaRPr/>
          </a:p>
        </p:txBody>
      </p:sp>
      <p:sp>
        <p:nvSpPr>
          <p:cNvPr id="761" name="Google Shape;761;p26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Baiskit in Action</a:t>
            </a:r>
            <a:endParaRPr/>
          </a:p>
        </p:txBody>
      </p:sp>
      <p:sp>
        <p:nvSpPr>
          <p:cNvPr id="762" name="Google Shape;762;p26"/>
          <p:cNvSpPr/>
          <p:nvPr/>
        </p:nvSpPr>
        <p:spPr>
          <a:xfrm>
            <a:off x="7818120" y="1508760"/>
            <a:ext cx="3794760" cy="466344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6"/>
          <p:cNvSpPr txBox="1"/>
          <p:nvPr/>
        </p:nvSpPr>
        <p:spPr>
          <a:xfrm>
            <a:off x="8092440" y="17373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TRY IT LIVE</a:t>
            </a:r>
            <a:endParaRPr/>
          </a:p>
        </p:txBody>
      </p:sp>
      <p:pic>
        <p:nvPicPr>
          <p:cNvPr descr="qr.png" id="764" name="Google Shape;7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3920" y="2148840"/>
            <a:ext cx="2423160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26"/>
          <p:cNvSpPr txBox="1"/>
          <p:nvPr/>
        </p:nvSpPr>
        <p:spPr>
          <a:xfrm>
            <a:off x="8092440" y="47548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baiskitnew.vercel.app</a:t>
            </a:r>
            <a:endParaRPr/>
          </a:p>
        </p:txBody>
      </p:sp>
      <p:sp>
        <p:nvSpPr>
          <p:cNvPr id="766" name="Google Shape;766;p26"/>
          <p:cNvSpPr txBox="1"/>
          <p:nvPr/>
        </p:nvSpPr>
        <p:spPr>
          <a:xfrm>
            <a:off x="8092440" y="516636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Scan with any phone camera to open the deployed app</a:t>
            </a:r>
            <a:endParaRPr/>
          </a:p>
        </p:txBody>
      </p:sp>
      <p:sp>
        <p:nvSpPr>
          <p:cNvPr id="767" name="Google Shape;767;p2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/>
          </a:p>
        </p:txBody>
      </p:sp>
      <p:pic>
        <p:nvPicPr>
          <p:cNvPr id="768" name="Google Shape;768;p26" title="output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775" y="1549387"/>
            <a:ext cx="6683078" cy="37592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69" name="Google Shape;769;p26"/>
          <p:cNvSpPr txBox="1"/>
          <p:nvPr/>
        </p:nvSpPr>
        <p:spPr>
          <a:xfrm>
            <a:off x="1434050" y="5743200"/>
            <a:ext cx="26787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</a:t>
            </a:r>
            <a:r>
              <a:rPr b="1" lang="en-US" sz="1600">
                <a:solidFill>
                  <a:srgbClr val="5C4033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Watch Demo Externally</a:t>
            </a:r>
            <a:endParaRPr b="1" sz="1600">
              <a:solidFill>
                <a:srgbClr val="5C4033"/>
              </a:solidFill>
            </a:endParaRPr>
          </a:p>
        </p:txBody>
      </p:sp>
      <p:pic>
        <p:nvPicPr>
          <p:cNvPr descr="image.png" id="770" name="Google Shape;770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6450" y="5743199"/>
            <a:ext cx="321742" cy="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5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75" name="Google Shape;77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390650"/>
            <a:ext cx="26289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6" name="Google Shape;77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0900" y="1390650"/>
            <a:ext cx="26289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7" name="Google Shape;777;p27"/>
          <p:cNvPicPr preferRelativeResize="0"/>
          <p:nvPr/>
        </p:nvPicPr>
        <p:blipFill rotWithShape="1">
          <a:blip r:embed="rId4">
            <a:alphaModFix/>
          </a:blip>
          <a:srcRect b="0" l="554" r="544" t="0"/>
          <a:stretch/>
        </p:blipFill>
        <p:spPr>
          <a:xfrm>
            <a:off x="6172200" y="1390650"/>
            <a:ext cx="2628900" cy="4762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8" name="Google Shape;7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3500" y="1390650"/>
            <a:ext cx="26289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9" name="Google Shape;779;p27"/>
          <p:cNvPicPr preferRelativeResize="0"/>
          <p:nvPr/>
        </p:nvPicPr>
        <p:blipFill rotWithShape="1">
          <a:blip r:embed="rId5">
            <a:alphaModFix/>
          </a:blip>
          <a:srcRect b="0" l="554" r="544" t="0"/>
          <a:stretch/>
        </p:blipFill>
        <p:spPr>
          <a:xfrm>
            <a:off x="609600" y="1390650"/>
            <a:ext cx="2628900" cy="4762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0" name="Google Shape;780;p27"/>
          <p:cNvPicPr preferRelativeResize="0"/>
          <p:nvPr/>
        </p:nvPicPr>
        <p:blipFill rotWithShape="1">
          <a:blip r:embed="rId6">
            <a:alphaModFix/>
          </a:blip>
          <a:srcRect b="0" l="554" r="544" t="0"/>
          <a:stretch/>
        </p:blipFill>
        <p:spPr>
          <a:xfrm>
            <a:off x="3390900" y="1390650"/>
            <a:ext cx="2480575" cy="4762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1" name="Google Shape;781;p27"/>
          <p:cNvPicPr preferRelativeResize="0"/>
          <p:nvPr/>
        </p:nvPicPr>
        <p:blipFill rotWithShape="1">
          <a:blip r:embed="rId7">
            <a:alphaModFix/>
          </a:blip>
          <a:srcRect b="0" l="554" r="544" t="0"/>
          <a:stretch/>
        </p:blipFill>
        <p:spPr>
          <a:xfrm>
            <a:off x="8953500" y="1390650"/>
            <a:ext cx="2628900" cy="4762501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27"/>
          <p:cNvSpPr txBox="1"/>
          <p:nvPr/>
        </p:nvSpPr>
        <p:spPr>
          <a:xfrm>
            <a:off x="-381000" y="457200"/>
            <a:ext cx="1295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252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Snapshots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28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/>
          </a:p>
        </p:txBody>
      </p:sp>
      <p:sp>
        <p:nvSpPr>
          <p:cNvPr id="789" name="Google Shape;789;p28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Testing Strategy and Test Cases</a:t>
            </a:r>
            <a:endParaRPr/>
          </a:p>
        </p:txBody>
      </p:sp>
      <p:sp>
        <p:nvSpPr>
          <p:cNvPr id="790" name="Google Shape;790;p28"/>
          <p:cNvSpPr/>
          <p:nvPr/>
        </p:nvSpPr>
        <p:spPr>
          <a:xfrm>
            <a:off x="548640" y="1508760"/>
            <a:ext cx="3291840" cy="969264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8"/>
          <p:cNvSpPr txBox="1"/>
          <p:nvPr/>
        </p:nvSpPr>
        <p:spPr>
          <a:xfrm>
            <a:off x="777240" y="161848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Unit</a:t>
            </a:r>
            <a:endParaRPr/>
          </a:p>
        </p:txBody>
      </p:sp>
      <p:sp>
        <p:nvSpPr>
          <p:cNvPr id="792" name="Google Shape;792;p28"/>
          <p:cNvSpPr txBox="1"/>
          <p:nvPr/>
        </p:nvSpPr>
        <p:spPr>
          <a:xfrm>
            <a:off x="777240" y="194767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Matching score, budget filter, form validation</a:t>
            </a:r>
            <a:endParaRPr/>
          </a:p>
        </p:txBody>
      </p:sp>
      <p:sp>
        <p:nvSpPr>
          <p:cNvPr id="793" name="Google Shape;793;p28"/>
          <p:cNvSpPr/>
          <p:nvPr/>
        </p:nvSpPr>
        <p:spPr>
          <a:xfrm>
            <a:off x="548640" y="2624328"/>
            <a:ext cx="3291840" cy="969264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8"/>
          <p:cNvSpPr txBox="1"/>
          <p:nvPr/>
        </p:nvSpPr>
        <p:spPr>
          <a:xfrm>
            <a:off x="777240" y="273405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Integration</a:t>
            </a:r>
            <a:endParaRPr/>
          </a:p>
        </p:txBody>
      </p:sp>
      <p:sp>
        <p:nvSpPr>
          <p:cNvPr id="795" name="Google Shape;795;p28"/>
          <p:cNvSpPr txBox="1"/>
          <p:nvPr/>
        </p:nvSpPr>
        <p:spPr>
          <a:xfrm>
            <a:off x="777240" y="306324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Front end ↔ REST API ↔ database</a:t>
            </a:r>
            <a:endParaRPr/>
          </a:p>
        </p:txBody>
      </p:sp>
      <p:sp>
        <p:nvSpPr>
          <p:cNvPr id="796" name="Google Shape;796;p28"/>
          <p:cNvSpPr/>
          <p:nvPr/>
        </p:nvSpPr>
        <p:spPr>
          <a:xfrm>
            <a:off x="548640" y="3739896"/>
            <a:ext cx="3291840" cy="969264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8"/>
          <p:cNvSpPr txBox="1"/>
          <p:nvPr/>
        </p:nvSpPr>
        <p:spPr>
          <a:xfrm>
            <a:off x="777240" y="384962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UI / Responsive</a:t>
            </a:r>
            <a:endParaRPr/>
          </a:p>
        </p:txBody>
      </p:sp>
      <p:sp>
        <p:nvSpPr>
          <p:cNvPr id="798" name="Google Shape;798;p28"/>
          <p:cNvSpPr txBox="1"/>
          <p:nvPr/>
        </p:nvSpPr>
        <p:spPr>
          <a:xfrm>
            <a:off x="777240" y="417880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Phone, tablet and desktop browsers</a:t>
            </a:r>
            <a:endParaRPr/>
          </a:p>
        </p:txBody>
      </p:sp>
      <p:sp>
        <p:nvSpPr>
          <p:cNvPr id="799" name="Google Shape;799;p28"/>
          <p:cNvSpPr/>
          <p:nvPr/>
        </p:nvSpPr>
        <p:spPr>
          <a:xfrm>
            <a:off x="548640" y="4855464"/>
            <a:ext cx="3291840" cy="969264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8"/>
          <p:cNvSpPr txBox="1"/>
          <p:nvPr/>
        </p:nvSpPr>
        <p:spPr>
          <a:xfrm>
            <a:off x="777240" y="496519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User acceptance</a:t>
            </a:r>
            <a:endParaRPr/>
          </a:p>
        </p:txBody>
      </p:sp>
      <p:sp>
        <p:nvSpPr>
          <p:cNvPr id="801" name="Google Shape;801;p28"/>
          <p:cNvSpPr txBox="1"/>
          <p:nvPr/>
        </p:nvSpPr>
        <p:spPr>
          <a:xfrm>
            <a:off x="777240" y="5294376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Students &amp; shopkeepers tried real flows</a:t>
            </a:r>
            <a:endParaRPr/>
          </a:p>
        </p:txBody>
      </p:sp>
      <p:graphicFrame>
        <p:nvGraphicFramePr>
          <p:cNvPr id="802" name="Google Shape;802;p28"/>
          <p:cNvGraphicFramePr/>
          <p:nvPr/>
        </p:nvGraphicFramePr>
        <p:xfrm>
          <a:off x="411480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{02BEFEF0-9CDD-437E-AAA2-31E5728366E7}</a:tableStyleId>
              </a:tblPr>
              <a:tblGrid>
                <a:gridCol w="685800"/>
                <a:gridCol w="1325875"/>
                <a:gridCol w="2194550"/>
                <a:gridCol w="2514600"/>
                <a:gridCol w="7772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INPUT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EXPECTED RESULT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4033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TC01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 email &amp; password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reaches home screen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TC02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Wrong password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 shown, no access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TC03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Baiskit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Budget left empty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 blocks submit, asks for budget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TC04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Matching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Budget ₹2,000; offer ₹2,499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Offer filtered out of matches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TC05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Matching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 offers within budget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Higher score ranked first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TC06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Verification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Seller completes ID check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Verified badge shown on listings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EBE0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TC07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Nearby deals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 permission granted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>
                          <a:solidFill>
                            <a:srgbClr val="3A2A2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Offers sorted by distance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/>
                    </a:p>
                  </a:txBody>
                  <a:tcPr marT="45725" marB="45725" marR="109725" marL="1097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03" name="Google Shape;803;p2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9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/>
          </a:p>
        </p:txBody>
      </p:sp>
      <p:sp>
        <p:nvSpPr>
          <p:cNvPr id="809" name="Google Shape;809;p29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Input and Output</a:t>
            </a:r>
            <a:endParaRPr/>
          </a:p>
        </p:txBody>
      </p:sp>
      <p:sp>
        <p:nvSpPr>
          <p:cNvPr id="810" name="Google Shape;810;p29"/>
          <p:cNvSpPr/>
          <p:nvPr/>
        </p:nvSpPr>
        <p:spPr>
          <a:xfrm>
            <a:off x="548640" y="1508760"/>
            <a:ext cx="4206240" cy="448056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9"/>
          <p:cNvSpPr txBox="1"/>
          <p:nvPr/>
        </p:nvSpPr>
        <p:spPr>
          <a:xfrm>
            <a:off x="822960" y="17373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INPUT — BUYER'S BAISKIT</a:t>
            </a:r>
            <a:endParaRPr/>
          </a:p>
        </p:txBody>
      </p:sp>
      <p:sp>
        <p:nvSpPr>
          <p:cNvPr id="812" name="Google Shape;812;p29"/>
          <p:cNvSpPr/>
          <p:nvPr/>
        </p:nvSpPr>
        <p:spPr>
          <a:xfrm>
            <a:off x="822960" y="2148840"/>
            <a:ext cx="3657600" cy="58521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9"/>
          <p:cNvSpPr txBox="1"/>
          <p:nvPr/>
        </p:nvSpPr>
        <p:spPr>
          <a:xfrm>
            <a:off x="1005840" y="2148840"/>
            <a:ext cx="1554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814" name="Google Shape;814;p29"/>
          <p:cNvSpPr txBox="1"/>
          <p:nvPr/>
        </p:nvSpPr>
        <p:spPr>
          <a:xfrm>
            <a:off x="2468880" y="2148840"/>
            <a:ext cx="1874519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Study table</a:t>
            </a:r>
            <a:endParaRPr/>
          </a:p>
        </p:txBody>
      </p:sp>
      <p:sp>
        <p:nvSpPr>
          <p:cNvPr id="815" name="Google Shape;815;p29"/>
          <p:cNvSpPr/>
          <p:nvPr/>
        </p:nvSpPr>
        <p:spPr>
          <a:xfrm>
            <a:off x="822960" y="2862072"/>
            <a:ext cx="3657600" cy="58521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9"/>
          <p:cNvSpPr txBox="1"/>
          <p:nvPr/>
        </p:nvSpPr>
        <p:spPr>
          <a:xfrm>
            <a:off x="1005840" y="2862072"/>
            <a:ext cx="1554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/>
          </a:p>
        </p:txBody>
      </p:sp>
      <p:sp>
        <p:nvSpPr>
          <p:cNvPr id="817" name="Google Shape;817;p29"/>
          <p:cNvSpPr txBox="1"/>
          <p:nvPr/>
        </p:nvSpPr>
        <p:spPr>
          <a:xfrm>
            <a:off x="2468880" y="2862072"/>
            <a:ext cx="1874519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₹2,000</a:t>
            </a:r>
            <a:endParaRPr/>
          </a:p>
        </p:txBody>
      </p:sp>
      <p:sp>
        <p:nvSpPr>
          <p:cNvPr id="818" name="Google Shape;818;p29"/>
          <p:cNvSpPr/>
          <p:nvPr/>
        </p:nvSpPr>
        <p:spPr>
          <a:xfrm>
            <a:off x="822960" y="3575304"/>
            <a:ext cx="3657600" cy="58521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9"/>
          <p:cNvSpPr txBox="1"/>
          <p:nvPr/>
        </p:nvSpPr>
        <p:spPr>
          <a:xfrm>
            <a:off x="1005840" y="3575304"/>
            <a:ext cx="1554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Quantity</a:t>
            </a:r>
            <a:endParaRPr/>
          </a:p>
        </p:txBody>
      </p:sp>
      <p:sp>
        <p:nvSpPr>
          <p:cNvPr id="820" name="Google Shape;820;p29"/>
          <p:cNvSpPr txBox="1"/>
          <p:nvPr/>
        </p:nvSpPr>
        <p:spPr>
          <a:xfrm>
            <a:off x="2468880" y="3575304"/>
            <a:ext cx="1874519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21" name="Google Shape;821;p29"/>
          <p:cNvSpPr/>
          <p:nvPr/>
        </p:nvSpPr>
        <p:spPr>
          <a:xfrm>
            <a:off x="822960" y="4288536"/>
            <a:ext cx="3657600" cy="58521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9"/>
          <p:cNvSpPr txBox="1"/>
          <p:nvPr/>
        </p:nvSpPr>
        <p:spPr>
          <a:xfrm>
            <a:off x="1005840" y="4288536"/>
            <a:ext cx="1554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Search radius</a:t>
            </a:r>
            <a:endParaRPr/>
          </a:p>
        </p:txBody>
      </p:sp>
      <p:sp>
        <p:nvSpPr>
          <p:cNvPr id="823" name="Google Shape;823;p29"/>
          <p:cNvSpPr txBox="1"/>
          <p:nvPr/>
        </p:nvSpPr>
        <p:spPr>
          <a:xfrm>
            <a:off x="2468880" y="4288536"/>
            <a:ext cx="1874519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5 km</a:t>
            </a:r>
            <a:endParaRPr/>
          </a:p>
        </p:txBody>
      </p:sp>
      <p:sp>
        <p:nvSpPr>
          <p:cNvPr id="824" name="Google Shape;824;p29"/>
          <p:cNvSpPr/>
          <p:nvPr/>
        </p:nvSpPr>
        <p:spPr>
          <a:xfrm>
            <a:off x="822960" y="5001768"/>
            <a:ext cx="3657600" cy="585216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9"/>
          <p:cNvSpPr txBox="1"/>
          <p:nvPr/>
        </p:nvSpPr>
        <p:spPr>
          <a:xfrm>
            <a:off x="1005840" y="5001768"/>
            <a:ext cx="1554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Seller filter</a:t>
            </a:r>
            <a:endParaRPr/>
          </a:p>
        </p:txBody>
      </p:sp>
      <p:sp>
        <p:nvSpPr>
          <p:cNvPr id="826" name="Google Shape;826;p29"/>
          <p:cNvSpPr txBox="1"/>
          <p:nvPr/>
        </p:nvSpPr>
        <p:spPr>
          <a:xfrm>
            <a:off x="2468880" y="5001768"/>
            <a:ext cx="1874519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5C4033"/>
                </a:solidFill>
                <a:latin typeface="Calibri"/>
                <a:ea typeface="Calibri"/>
                <a:cs typeface="Calibri"/>
                <a:sym typeface="Calibri"/>
              </a:rPr>
              <a:t>Any (verified preferred)</a:t>
            </a:r>
            <a:endParaRPr/>
          </a:p>
        </p:txBody>
      </p:sp>
      <p:sp>
        <p:nvSpPr>
          <p:cNvPr id="827" name="Google Shape;827;p29"/>
          <p:cNvSpPr txBox="1"/>
          <p:nvPr/>
        </p:nvSpPr>
        <p:spPr>
          <a:xfrm>
            <a:off x="4800600" y="32918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828" name="Google Shape;828;p29"/>
          <p:cNvSpPr/>
          <p:nvPr/>
        </p:nvSpPr>
        <p:spPr>
          <a:xfrm>
            <a:off x="5394960" y="1508760"/>
            <a:ext cx="6217920" cy="4480560"/>
          </a:xfrm>
          <a:prstGeom prst="roundRect">
            <a:avLst>
              <a:gd fmla="val 5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9"/>
          <p:cNvSpPr txBox="1"/>
          <p:nvPr/>
        </p:nvSpPr>
        <p:spPr>
          <a:xfrm>
            <a:off x="5669280" y="17373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OUTPUT — RANKED MATCHES</a:t>
            </a:r>
            <a:endParaRPr/>
          </a:p>
        </p:txBody>
      </p:sp>
      <p:sp>
        <p:nvSpPr>
          <p:cNvPr id="830" name="Google Shape;830;p29"/>
          <p:cNvSpPr/>
          <p:nvPr/>
        </p:nvSpPr>
        <p:spPr>
          <a:xfrm>
            <a:off x="5669280" y="2148840"/>
            <a:ext cx="5669280" cy="868680"/>
          </a:xfrm>
          <a:prstGeom prst="roundRect">
            <a:avLst>
              <a:gd fmla="val 8000" name="adj"/>
            </a:avLst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9"/>
          <p:cNvSpPr txBox="1"/>
          <p:nvPr/>
        </p:nvSpPr>
        <p:spPr>
          <a:xfrm>
            <a:off x="5852160" y="2148840"/>
            <a:ext cx="365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832" name="Google Shape;832;p29"/>
          <p:cNvSpPr txBox="1"/>
          <p:nvPr/>
        </p:nvSpPr>
        <p:spPr>
          <a:xfrm>
            <a:off x="6309360" y="227685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Verified Resale — Priya K.</a:t>
            </a:r>
            <a:endParaRPr/>
          </a:p>
        </p:txBody>
      </p:sp>
      <p:sp>
        <p:nvSpPr>
          <p:cNvPr id="833" name="Google Shape;833;p29"/>
          <p:cNvSpPr txBox="1"/>
          <p:nvPr/>
        </p:nvSpPr>
        <p:spPr>
          <a:xfrm>
            <a:off x="6309360" y="26060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0DCC8"/>
                </a:solidFill>
                <a:latin typeface="Calibri"/>
                <a:ea typeface="Calibri"/>
                <a:cs typeface="Calibri"/>
                <a:sym typeface="Calibri"/>
              </a:rPr>
              <a:t>0.8 km  ·  ★ 4.8  ·  Verified</a:t>
            </a:r>
            <a:endParaRPr/>
          </a:p>
        </p:txBody>
      </p:sp>
      <p:sp>
        <p:nvSpPr>
          <p:cNvPr id="834" name="Google Shape;834;p29"/>
          <p:cNvSpPr txBox="1"/>
          <p:nvPr/>
        </p:nvSpPr>
        <p:spPr>
          <a:xfrm>
            <a:off x="9509760" y="2148840"/>
            <a:ext cx="1645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₹1,200</a:t>
            </a:r>
            <a:endParaRPr/>
          </a:p>
        </p:txBody>
      </p:sp>
      <p:sp>
        <p:nvSpPr>
          <p:cNvPr id="835" name="Google Shape;835;p29"/>
          <p:cNvSpPr/>
          <p:nvPr/>
        </p:nvSpPr>
        <p:spPr>
          <a:xfrm>
            <a:off x="5669280" y="3172968"/>
            <a:ext cx="5669280" cy="868680"/>
          </a:xfrm>
          <a:prstGeom prst="roundRect">
            <a:avLst>
              <a:gd fmla="val 8000" name="adj"/>
            </a:avLst>
          </a:prstGeom>
          <a:solidFill>
            <a:srgbClr val="6E55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9"/>
          <p:cNvSpPr txBox="1"/>
          <p:nvPr/>
        </p:nvSpPr>
        <p:spPr>
          <a:xfrm>
            <a:off x="5852160" y="3172968"/>
            <a:ext cx="365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837" name="Google Shape;837;p29"/>
          <p:cNvSpPr txBox="1"/>
          <p:nvPr/>
        </p:nvSpPr>
        <p:spPr>
          <a:xfrm>
            <a:off x="6309360" y="330098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Shop — Rahul Furniture</a:t>
            </a:r>
            <a:endParaRPr/>
          </a:p>
        </p:txBody>
      </p:sp>
      <p:sp>
        <p:nvSpPr>
          <p:cNvPr id="838" name="Google Shape;838;p29"/>
          <p:cNvSpPr txBox="1"/>
          <p:nvPr/>
        </p:nvSpPr>
        <p:spPr>
          <a:xfrm>
            <a:off x="6309360" y="363016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F0DCC8"/>
                </a:solidFill>
                <a:latin typeface="Calibri"/>
                <a:ea typeface="Calibri"/>
                <a:cs typeface="Calibri"/>
                <a:sym typeface="Calibri"/>
              </a:rPr>
              <a:t>0.4 km  ·  Pickup today</a:t>
            </a:r>
            <a:endParaRPr/>
          </a:p>
        </p:txBody>
      </p:sp>
      <p:sp>
        <p:nvSpPr>
          <p:cNvPr id="839" name="Google Shape;839;p29"/>
          <p:cNvSpPr txBox="1"/>
          <p:nvPr/>
        </p:nvSpPr>
        <p:spPr>
          <a:xfrm>
            <a:off x="9509760" y="3172968"/>
            <a:ext cx="1645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₹1,950</a:t>
            </a:r>
            <a:endParaRPr/>
          </a:p>
        </p:txBody>
      </p:sp>
      <p:sp>
        <p:nvSpPr>
          <p:cNvPr id="840" name="Google Shape;840;p29"/>
          <p:cNvSpPr/>
          <p:nvPr/>
        </p:nvSpPr>
        <p:spPr>
          <a:xfrm>
            <a:off x="5669280" y="4197096"/>
            <a:ext cx="5669280" cy="868680"/>
          </a:xfrm>
          <a:prstGeom prst="roundRect">
            <a:avLst>
              <a:gd fmla="val 8000" name="adj"/>
            </a:avLst>
          </a:prstGeom>
          <a:solidFill>
            <a:srgbClr val="4A33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9"/>
          <p:cNvSpPr txBox="1"/>
          <p:nvPr/>
        </p:nvSpPr>
        <p:spPr>
          <a:xfrm>
            <a:off x="5852160" y="4197096"/>
            <a:ext cx="365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A8968A"/>
                </a:solidFill>
                <a:latin typeface="Cambria"/>
                <a:ea typeface="Cambria"/>
                <a:cs typeface="Cambria"/>
                <a:sym typeface="Cambria"/>
              </a:rPr>
              <a:t>—</a:t>
            </a:r>
            <a:endParaRPr/>
          </a:p>
        </p:txBody>
      </p:sp>
      <p:sp>
        <p:nvSpPr>
          <p:cNvPr id="842" name="Google Shape;842;p29"/>
          <p:cNvSpPr txBox="1"/>
          <p:nvPr/>
        </p:nvSpPr>
        <p:spPr>
          <a:xfrm>
            <a:off x="6309360" y="4325112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A8968A"/>
                </a:solidFill>
                <a:latin typeface="Calibri"/>
                <a:ea typeface="Calibri"/>
                <a:cs typeface="Calibri"/>
                <a:sym typeface="Calibri"/>
              </a:rPr>
              <a:t>Global platform listing</a:t>
            </a:r>
            <a:endParaRPr/>
          </a:p>
        </p:txBody>
      </p:sp>
      <p:sp>
        <p:nvSpPr>
          <p:cNvPr id="843" name="Google Shape;843;p29"/>
          <p:cNvSpPr txBox="1"/>
          <p:nvPr/>
        </p:nvSpPr>
        <p:spPr>
          <a:xfrm>
            <a:off x="6309360" y="465429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A8968A"/>
                </a:solidFill>
                <a:latin typeface="Calibri"/>
                <a:ea typeface="Calibri"/>
                <a:cs typeface="Calibri"/>
                <a:sym typeface="Calibri"/>
              </a:rPr>
              <a:t>Filtered: over budget</a:t>
            </a:r>
            <a:endParaRPr/>
          </a:p>
        </p:txBody>
      </p:sp>
      <p:sp>
        <p:nvSpPr>
          <p:cNvPr id="844" name="Google Shape;844;p29"/>
          <p:cNvSpPr txBox="1"/>
          <p:nvPr/>
        </p:nvSpPr>
        <p:spPr>
          <a:xfrm>
            <a:off x="9509760" y="4197096"/>
            <a:ext cx="1645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A8968A"/>
                </a:solidFill>
                <a:latin typeface="Cambria"/>
                <a:ea typeface="Cambria"/>
                <a:cs typeface="Cambria"/>
                <a:sym typeface="Cambria"/>
              </a:rPr>
              <a:t>₹2,499</a:t>
            </a:r>
            <a:endParaRPr/>
          </a:p>
        </p:txBody>
      </p:sp>
      <p:sp>
        <p:nvSpPr>
          <p:cNvPr id="845" name="Google Shape;845;p29"/>
          <p:cNvSpPr txBox="1"/>
          <p:nvPr/>
        </p:nvSpPr>
        <p:spPr>
          <a:xfrm>
            <a:off x="5669280" y="5303520"/>
            <a:ext cx="5669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E3D2C3"/>
                </a:solidFill>
                <a:latin typeface="Calibri"/>
                <a:ea typeface="Calibri"/>
                <a:cs typeface="Calibri"/>
                <a:sym typeface="Calibri"/>
              </a:rPr>
              <a:t>Sample run — a nearby verified resale offer beats the online listing by ₹1,299.</a:t>
            </a:r>
            <a:endParaRPr/>
          </a:p>
        </p:txBody>
      </p:sp>
      <p:sp>
        <p:nvSpPr>
          <p:cNvPr id="846" name="Google Shape;846;p2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/>
          </a:p>
        </p:txBody>
      </p:sp>
      <p:sp>
        <p:nvSpPr>
          <p:cNvPr id="852" name="Google Shape;852;p30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What the Results Show</a:t>
            </a:r>
            <a:endParaRPr/>
          </a:p>
        </p:txBody>
      </p:sp>
      <p:pic>
        <p:nvPicPr>
          <p:cNvPr id="853" name="Google Shape;85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08760"/>
            <a:ext cx="566928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30"/>
          <p:cNvSpPr/>
          <p:nvPr/>
        </p:nvSpPr>
        <p:spPr>
          <a:xfrm>
            <a:off x="6537960" y="1508760"/>
            <a:ext cx="5074920" cy="100584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0"/>
          <p:cNvSpPr txBox="1"/>
          <p:nvPr/>
        </p:nvSpPr>
        <p:spPr>
          <a:xfrm>
            <a:off x="6766560" y="1618488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B5651D"/>
                </a:solidFill>
                <a:latin typeface="Cambria"/>
                <a:ea typeface="Cambria"/>
                <a:cs typeface="Cambria"/>
                <a:sym typeface="Cambria"/>
              </a:rPr>
              <a:t>52% saved</a:t>
            </a:r>
            <a:endParaRPr/>
          </a:p>
        </p:txBody>
      </p:sp>
      <p:sp>
        <p:nvSpPr>
          <p:cNvPr id="856" name="Google Shape;856;p30"/>
          <p:cNvSpPr txBox="1"/>
          <p:nvPr/>
        </p:nvSpPr>
        <p:spPr>
          <a:xfrm>
            <a:off x="6766560" y="198424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versus the global listing when a verified resale offer fits the budget</a:t>
            </a:r>
            <a:endParaRPr/>
          </a:p>
        </p:txBody>
      </p:sp>
      <p:sp>
        <p:nvSpPr>
          <p:cNvPr id="857" name="Google Shape;857;p30"/>
          <p:cNvSpPr/>
          <p:nvPr/>
        </p:nvSpPr>
        <p:spPr>
          <a:xfrm>
            <a:off x="6537960" y="2651760"/>
            <a:ext cx="5074920" cy="100584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0"/>
          <p:cNvSpPr txBox="1"/>
          <p:nvPr/>
        </p:nvSpPr>
        <p:spPr>
          <a:xfrm>
            <a:off x="6766560" y="2761488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Zero wasted offers</a:t>
            </a:r>
            <a:endParaRPr/>
          </a:p>
        </p:txBody>
      </p:sp>
      <p:sp>
        <p:nvSpPr>
          <p:cNvPr id="859" name="Google Shape;859;p30"/>
          <p:cNvSpPr txBox="1"/>
          <p:nvPr/>
        </p:nvSpPr>
        <p:spPr>
          <a:xfrm>
            <a:off x="6766560" y="312724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the budget filter removes every offer the buyer could not afford</a:t>
            </a:r>
            <a:endParaRPr/>
          </a:p>
        </p:txBody>
      </p:sp>
      <p:sp>
        <p:nvSpPr>
          <p:cNvPr id="860" name="Google Shape;860;p30"/>
          <p:cNvSpPr/>
          <p:nvPr/>
        </p:nvSpPr>
        <p:spPr>
          <a:xfrm>
            <a:off x="6537960" y="3794760"/>
            <a:ext cx="5074920" cy="100584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0"/>
          <p:cNvSpPr txBox="1"/>
          <p:nvPr/>
        </p:nvSpPr>
        <p:spPr>
          <a:xfrm>
            <a:off x="6766560" y="3904488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Local shops visible</a:t>
            </a:r>
            <a:endParaRPr/>
          </a:p>
        </p:txBody>
      </p:sp>
      <p:sp>
        <p:nvSpPr>
          <p:cNvPr id="862" name="Google Shape;862;p30"/>
          <p:cNvSpPr txBox="1"/>
          <p:nvPr/>
        </p:nvSpPr>
        <p:spPr>
          <a:xfrm>
            <a:off x="6766560" y="427024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nearby vendors now appear next to online prices for the same item</a:t>
            </a:r>
            <a:endParaRPr/>
          </a:p>
        </p:txBody>
      </p:sp>
      <p:sp>
        <p:nvSpPr>
          <p:cNvPr id="863" name="Google Shape;863;p30"/>
          <p:cNvSpPr/>
          <p:nvPr/>
        </p:nvSpPr>
        <p:spPr>
          <a:xfrm>
            <a:off x="6537960" y="4937760"/>
            <a:ext cx="5074920" cy="100584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0"/>
          <p:cNvSpPr txBox="1"/>
          <p:nvPr/>
        </p:nvSpPr>
        <p:spPr>
          <a:xfrm>
            <a:off x="6766560" y="5047488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Trust drives choice</a:t>
            </a:r>
            <a:endParaRPr/>
          </a:p>
        </p:txBody>
      </p:sp>
      <p:sp>
        <p:nvSpPr>
          <p:cNvPr id="865" name="Google Shape;865;p30"/>
          <p:cNvSpPr txBox="1"/>
          <p:nvPr/>
        </p:nvSpPr>
        <p:spPr>
          <a:xfrm>
            <a:off x="6766560" y="541324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verified sellers rank higher, so buyers pick them with confidence</a:t>
            </a:r>
            <a:endParaRPr/>
          </a:p>
        </p:txBody>
      </p:sp>
      <p:sp>
        <p:nvSpPr>
          <p:cNvPr id="866" name="Google Shape;866;p3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872" name="Google Shape;872;p31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/>
          </a:p>
        </p:txBody>
      </p:sp>
      <p:sp>
        <p:nvSpPr>
          <p:cNvPr id="873" name="Google Shape;873;p31"/>
          <p:cNvSpPr txBox="1"/>
          <p:nvPr/>
        </p:nvSpPr>
        <p:spPr>
          <a:xfrm>
            <a:off x="548640" y="1508760"/>
            <a:ext cx="54864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Baiskit turns shopping around: the buyer states the need and the budget, and global platforms, local shopkeepers, service providers and verified resellers compete to fill it.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The working web app shows that one hyper-local, trust-first platform can save buyers money while giving small local sellers real digital visibility.</a:t>
            </a:r>
            <a:endParaRPr/>
          </a:p>
        </p:txBody>
      </p:sp>
      <p:sp>
        <p:nvSpPr>
          <p:cNvPr id="874" name="Google Shape;874;p31"/>
          <p:cNvSpPr/>
          <p:nvPr/>
        </p:nvSpPr>
        <p:spPr>
          <a:xfrm>
            <a:off x="6537960" y="1508760"/>
            <a:ext cx="5074920" cy="4480560"/>
          </a:xfrm>
          <a:prstGeom prst="roundRect">
            <a:avLst>
              <a:gd fmla="val 5000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1"/>
          <p:cNvSpPr txBox="1"/>
          <p:nvPr/>
        </p:nvSpPr>
        <p:spPr>
          <a:xfrm>
            <a:off x="6858000" y="17830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WHAT WE DELIVERED</a:t>
            </a:r>
            <a:endParaRPr/>
          </a:p>
        </p:txBody>
      </p:sp>
      <p:sp>
        <p:nvSpPr>
          <p:cNvPr id="876" name="Google Shape;876;p31"/>
          <p:cNvSpPr/>
          <p:nvPr/>
        </p:nvSpPr>
        <p:spPr>
          <a:xfrm>
            <a:off x="6858000" y="2240280"/>
            <a:ext cx="438912" cy="438912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1"/>
          <p:cNvSpPr txBox="1"/>
          <p:nvPr/>
        </p:nvSpPr>
        <p:spPr>
          <a:xfrm>
            <a:off x="6858000" y="224028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878" name="Google Shape;878;p31"/>
          <p:cNvSpPr txBox="1"/>
          <p:nvPr/>
        </p:nvSpPr>
        <p:spPr>
          <a:xfrm>
            <a:off x="7498079" y="2185416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Unified view of global, local, service and resale prices</a:t>
            </a:r>
            <a:endParaRPr/>
          </a:p>
        </p:txBody>
      </p:sp>
      <p:sp>
        <p:nvSpPr>
          <p:cNvPr id="879" name="Google Shape;879;p31"/>
          <p:cNvSpPr/>
          <p:nvPr/>
        </p:nvSpPr>
        <p:spPr>
          <a:xfrm>
            <a:off x="6858000" y="3136392"/>
            <a:ext cx="438912" cy="438912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1"/>
          <p:cNvSpPr txBox="1"/>
          <p:nvPr/>
        </p:nvSpPr>
        <p:spPr>
          <a:xfrm>
            <a:off x="6858000" y="31363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881" name="Google Shape;881;p31"/>
          <p:cNvSpPr txBox="1"/>
          <p:nvPr/>
        </p:nvSpPr>
        <p:spPr>
          <a:xfrm>
            <a:off x="7498079" y="3081528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Baiskit: budget-first, reverse buying</a:t>
            </a:r>
            <a:endParaRPr/>
          </a:p>
        </p:txBody>
      </p:sp>
      <p:sp>
        <p:nvSpPr>
          <p:cNvPr id="882" name="Google Shape;882;p31"/>
          <p:cNvSpPr/>
          <p:nvPr/>
        </p:nvSpPr>
        <p:spPr>
          <a:xfrm>
            <a:off x="6858000" y="4032504"/>
            <a:ext cx="438912" cy="438912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1"/>
          <p:cNvSpPr txBox="1"/>
          <p:nvPr/>
        </p:nvSpPr>
        <p:spPr>
          <a:xfrm>
            <a:off x="6858000" y="403250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884" name="Google Shape;884;p31"/>
          <p:cNvSpPr txBox="1"/>
          <p:nvPr/>
        </p:nvSpPr>
        <p:spPr>
          <a:xfrm>
            <a:off x="7498079" y="3977640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Verified-seller badge for safer second-hand deals</a:t>
            </a:r>
            <a:endParaRPr/>
          </a:p>
        </p:txBody>
      </p:sp>
      <p:sp>
        <p:nvSpPr>
          <p:cNvPr id="885" name="Google Shape;885;p31"/>
          <p:cNvSpPr/>
          <p:nvPr/>
        </p:nvSpPr>
        <p:spPr>
          <a:xfrm>
            <a:off x="6858000" y="4928616"/>
            <a:ext cx="438912" cy="438912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1"/>
          <p:cNvSpPr txBox="1"/>
          <p:nvPr/>
        </p:nvSpPr>
        <p:spPr>
          <a:xfrm>
            <a:off x="6858000" y="492861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/>
          </a:p>
        </p:txBody>
      </p:sp>
      <p:sp>
        <p:nvSpPr>
          <p:cNvPr id="887" name="Google Shape;887;p31"/>
          <p:cNvSpPr txBox="1"/>
          <p:nvPr/>
        </p:nvSpPr>
        <p:spPr>
          <a:xfrm>
            <a:off x="7498079" y="4873752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Deployed and accessible at baiskitnew.vercel.app</a:t>
            </a:r>
            <a:endParaRPr/>
          </a:p>
        </p:txBody>
      </p:sp>
      <p:sp>
        <p:nvSpPr>
          <p:cNvPr id="888" name="Google Shape;888;p31"/>
          <p:cNvSpPr/>
          <p:nvPr/>
        </p:nvSpPr>
        <p:spPr>
          <a:xfrm>
            <a:off x="548640" y="3840480"/>
            <a:ext cx="5486400" cy="2148840"/>
          </a:xfrm>
          <a:prstGeom prst="roundRect">
            <a:avLst>
              <a:gd fmla="val 8000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1"/>
          <p:cNvSpPr txBox="1"/>
          <p:nvPr/>
        </p:nvSpPr>
        <p:spPr>
          <a:xfrm>
            <a:off x="822960" y="41148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IN ONE LINE</a:t>
            </a:r>
            <a:endParaRPr/>
          </a:p>
        </p:txBody>
      </p:sp>
      <p:sp>
        <p:nvSpPr>
          <p:cNvPr id="890" name="Google Shape;890;p31"/>
          <p:cNvSpPr txBox="1"/>
          <p:nvPr/>
        </p:nvSpPr>
        <p:spPr>
          <a:xfrm>
            <a:off x="822960" y="452628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Don't search the market — post your baiskit and let the market come to you.</a:t>
            </a:r>
            <a:endParaRPr/>
          </a:p>
        </p:txBody>
      </p:sp>
      <p:sp>
        <p:nvSpPr>
          <p:cNvPr id="891" name="Google Shape;891;p3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2"/>
          <p:cNvSpPr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033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Expected Outcome &amp; Future Scope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2"/>
          <p:cNvSpPr/>
          <p:nvPr/>
        </p:nvSpPr>
        <p:spPr>
          <a:xfrm>
            <a:off x="548640" y="1600200"/>
            <a:ext cx="5349240" cy="4297680"/>
          </a:xfrm>
          <a:prstGeom prst="roundRect">
            <a:avLst>
              <a:gd fmla="val 2553" name="adj"/>
            </a:avLst>
          </a:prstGeom>
          <a:solidFill>
            <a:srgbClr val="5C40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2"/>
          <p:cNvSpPr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200"/>
              <a:buFont typeface="Calibri"/>
              <a:buNone/>
            </a:pPr>
            <a:r>
              <a:rPr b="1" lang="en-US" spc="150" sz="12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EXPECTED OUTCOME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2"/>
          <p:cNvSpPr/>
          <p:nvPr/>
        </p:nvSpPr>
        <p:spPr>
          <a:xfrm>
            <a:off x="914400" y="2322576"/>
            <a:ext cx="128016" cy="128016"/>
          </a:xfrm>
          <a:prstGeom prst="ellipse">
            <a:avLst/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2"/>
          <p:cNvSpPr/>
          <p:nvPr/>
        </p:nvSpPr>
        <p:spPr>
          <a:xfrm>
            <a:off x="1170432" y="2212848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Calibri"/>
              <a:buNone/>
            </a:pPr>
            <a:r>
              <a:rPr lang="en-US" sz="117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view of global, local &amp; resale prices for any product</a:t>
            </a:r>
            <a:endParaRPr sz="11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2"/>
          <p:cNvSpPr/>
          <p:nvPr/>
        </p:nvSpPr>
        <p:spPr>
          <a:xfrm>
            <a:off x="914400" y="2980944"/>
            <a:ext cx="128016" cy="128016"/>
          </a:xfrm>
          <a:prstGeom prst="ellipse">
            <a:avLst/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2"/>
          <p:cNvSpPr/>
          <p:nvPr/>
        </p:nvSpPr>
        <p:spPr>
          <a:xfrm>
            <a:off x="1170432" y="2871216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Calibri"/>
              <a:buNone/>
            </a:pPr>
            <a:r>
              <a:rPr lang="en-US" sz="117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vendors and service providers gain real digital visibility</a:t>
            </a:r>
            <a:endParaRPr sz="11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2"/>
          <p:cNvSpPr/>
          <p:nvPr/>
        </p:nvSpPr>
        <p:spPr>
          <a:xfrm>
            <a:off x="914400" y="3639312"/>
            <a:ext cx="128016" cy="128016"/>
          </a:xfrm>
          <a:prstGeom prst="ellipse">
            <a:avLst/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2"/>
          <p:cNvSpPr/>
          <p:nvPr/>
        </p:nvSpPr>
        <p:spPr>
          <a:xfrm>
            <a:off x="1170432" y="3529584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Calibri"/>
              <a:buNone/>
            </a:pPr>
            <a:r>
              <a:rPr lang="en-US" sz="117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Safer second-hand buying through identity verification</a:t>
            </a:r>
            <a:endParaRPr sz="11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2"/>
          <p:cNvSpPr/>
          <p:nvPr/>
        </p:nvSpPr>
        <p:spPr>
          <a:xfrm>
            <a:off x="914400" y="4297680"/>
            <a:ext cx="128016" cy="128016"/>
          </a:xfrm>
          <a:prstGeom prst="ellipse">
            <a:avLst/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2"/>
          <p:cNvSpPr/>
          <p:nvPr/>
        </p:nvSpPr>
        <p:spPr>
          <a:xfrm>
            <a:off x="1170432" y="4187952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Calibri"/>
              <a:buNone/>
            </a:pPr>
            <a:r>
              <a:rPr lang="en-US" sz="117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Budget-first buying with the Create Baiskit tool</a:t>
            </a:r>
            <a:endParaRPr sz="11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2"/>
          <p:cNvSpPr/>
          <p:nvPr/>
        </p:nvSpPr>
        <p:spPr>
          <a:xfrm>
            <a:off x="914400" y="4956048"/>
            <a:ext cx="128016" cy="128016"/>
          </a:xfrm>
          <a:prstGeom prst="ellipse">
            <a:avLst/>
          </a:prstGeom>
          <a:solidFill>
            <a:srgbClr val="C9A18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2"/>
          <p:cNvSpPr/>
          <p:nvPr/>
        </p:nvSpPr>
        <p:spPr>
          <a:xfrm>
            <a:off x="1170432" y="484632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Calibri"/>
              <a:buNone/>
            </a:pPr>
            <a:r>
              <a:rPr lang="en-US" sz="117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Faster, more confident purchase decisions</a:t>
            </a:r>
            <a:endParaRPr sz="11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2"/>
          <p:cNvSpPr/>
          <p:nvPr/>
        </p:nvSpPr>
        <p:spPr>
          <a:xfrm>
            <a:off x="6263640" y="1600200"/>
            <a:ext cx="5349240" cy="4297680"/>
          </a:xfrm>
          <a:prstGeom prst="roundRect">
            <a:avLst>
              <a:gd fmla="val 2553" name="adj"/>
            </a:avLst>
          </a:prstGeom>
          <a:solidFill>
            <a:srgbClr val="EFE1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2"/>
          <p:cNvSpPr/>
          <p:nvPr/>
        </p:nvSpPr>
        <p:spPr>
          <a:xfrm>
            <a:off x="6629400" y="1828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651D"/>
              </a:buClr>
              <a:buSzPts val="1200"/>
              <a:buFont typeface="Calibri"/>
              <a:buNone/>
            </a:pPr>
            <a:r>
              <a:rPr b="1" lang="en-US" spc="15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2"/>
          <p:cNvSpPr/>
          <p:nvPr/>
        </p:nvSpPr>
        <p:spPr>
          <a:xfrm>
            <a:off x="6629400" y="2322576"/>
            <a:ext cx="128016" cy="128016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2"/>
          <p:cNvSpPr/>
          <p:nvPr/>
        </p:nvSpPr>
        <p:spPr>
          <a:xfrm>
            <a:off x="6885432" y="2212848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70"/>
              <a:buFont typeface="Calibri"/>
              <a:buNone/>
            </a:pPr>
            <a:r>
              <a:rPr lang="en-US" sz="117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AI-based price-drop prediction across vendors</a:t>
            </a:r>
            <a:endParaRPr sz="11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2"/>
          <p:cNvSpPr/>
          <p:nvPr/>
        </p:nvSpPr>
        <p:spPr>
          <a:xfrm>
            <a:off x="6629400" y="2980944"/>
            <a:ext cx="128016" cy="128016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2"/>
          <p:cNvSpPr/>
          <p:nvPr/>
        </p:nvSpPr>
        <p:spPr>
          <a:xfrm>
            <a:off x="6885432" y="2871216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70"/>
              <a:buFont typeface="Calibri"/>
              <a:buNone/>
            </a:pPr>
            <a:r>
              <a:rPr lang="en-US" sz="117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Hyperlocal delivery partner integration</a:t>
            </a:r>
            <a:endParaRPr sz="11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2"/>
          <p:cNvSpPr/>
          <p:nvPr/>
        </p:nvSpPr>
        <p:spPr>
          <a:xfrm>
            <a:off x="6629400" y="3639312"/>
            <a:ext cx="128016" cy="128016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2"/>
          <p:cNvSpPr/>
          <p:nvPr/>
        </p:nvSpPr>
        <p:spPr>
          <a:xfrm>
            <a:off x="6885432" y="3529584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70"/>
              <a:buFont typeface="Calibri"/>
              <a:buNone/>
            </a:pPr>
            <a:r>
              <a:rPr lang="en-US" sz="117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Voice search for products and services</a:t>
            </a:r>
            <a:endParaRPr sz="11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2"/>
          <p:cNvSpPr/>
          <p:nvPr/>
        </p:nvSpPr>
        <p:spPr>
          <a:xfrm>
            <a:off x="6629400" y="4297680"/>
            <a:ext cx="128016" cy="128016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2"/>
          <p:cNvSpPr/>
          <p:nvPr/>
        </p:nvSpPr>
        <p:spPr>
          <a:xfrm>
            <a:off x="6885432" y="4187952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70"/>
              <a:buFont typeface="Calibri"/>
              <a:buNone/>
            </a:pPr>
            <a:r>
              <a:rPr lang="en-US" sz="117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Loyalty rewards for verified sellers &amp; frequent buyers</a:t>
            </a:r>
            <a:endParaRPr sz="11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2"/>
          <p:cNvSpPr/>
          <p:nvPr/>
        </p:nvSpPr>
        <p:spPr>
          <a:xfrm>
            <a:off x="6629400" y="4956048"/>
            <a:ext cx="128016" cy="128016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2"/>
          <p:cNvSpPr/>
          <p:nvPr/>
        </p:nvSpPr>
        <p:spPr>
          <a:xfrm>
            <a:off x="6885432" y="484632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2A20"/>
              </a:buClr>
              <a:buSzPts val="1170"/>
              <a:buFont typeface="Calibri"/>
              <a:buNone/>
            </a:pPr>
            <a:r>
              <a:rPr lang="en-US" sz="117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Cross-border price comparison for global brands</a:t>
            </a:r>
            <a:endParaRPr sz="11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56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EFE7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pc="200" sz="1200">
                <a:solidFill>
                  <a:srgbClr val="B5651D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929" name="Google Shape;929;p33"/>
          <p:cNvSpPr txBox="1"/>
          <p:nvPr/>
        </p:nvSpPr>
        <p:spPr>
          <a:xfrm>
            <a:off x="548640" y="685800"/>
            <a:ext cx="10698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5C4033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/>
          </a:p>
        </p:txBody>
      </p:sp>
      <p:sp>
        <p:nvSpPr>
          <p:cNvPr id="930" name="Google Shape;930;p33"/>
          <p:cNvSpPr/>
          <p:nvPr/>
        </p:nvSpPr>
        <p:spPr>
          <a:xfrm>
            <a:off x="548640" y="1659636"/>
            <a:ext cx="384048" cy="384048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3"/>
          <p:cNvSpPr txBox="1"/>
          <p:nvPr/>
        </p:nvSpPr>
        <p:spPr>
          <a:xfrm>
            <a:off x="548640" y="16596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932" name="Google Shape;932;p33"/>
          <p:cNvSpPr txBox="1"/>
          <p:nvPr/>
        </p:nvSpPr>
        <p:spPr>
          <a:xfrm>
            <a:off x="1143000" y="155448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Bakos, J. Y. (1997). Reducing buyer search costs: Implications for electronic marketplaces. Management Science, 43(12), 1676–1692.</a:t>
            </a:r>
            <a:endParaRPr/>
          </a:p>
        </p:txBody>
      </p:sp>
      <p:sp>
        <p:nvSpPr>
          <p:cNvPr id="933" name="Google Shape;933;p33"/>
          <p:cNvSpPr/>
          <p:nvPr/>
        </p:nvSpPr>
        <p:spPr>
          <a:xfrm>
            <a:off x="548640" y="2391156"/>
            <a:ext cx="384048" cy="384048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3"/>
          <p:cNvSpPr txBox="1"/>
          <p:nvPr/>
        </p:nvSpPr>
        <p:spPr>
          <a:xfrm>
            <a:off x="548640" y="23911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935" name="Google Shape;935;p33"/>
          <p:cNvSpPr txBox="1"/>
          <p:nvPr/>
        </p:nvSpPr>
        <p:spPr>
          <a:xfrm>
            <a:off x="1143000" y="228600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Brynjolfsson, E., &amp; Smith, M. D. (2000). Frictionless commerce? A comparison of Internet and conventional retailers. Management Science, 46(4), 563–585.</a:t>
            </a:r>
            <a:endParaRPr/>
          </a:p>
        </p:txBody>
      </p:sp>
      <p:sp>
        <p:nvSpPr>
          <p:cNvPr id="936" name="Google Shape;936;p33"/>
          <p:cNvSpPr/>
          <p:nvPr/>
        </p:nvSpPr>
        <p:spPr>
          <a:xfrm>
            <a:off x="548640" y="3122676"/>
            <a:ext cx="384048" cy="384048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3"/>
          <p:cNvSpPr txBox="1"/>
          <p:nvPr/>
        </p:nvSpPr>
        <p:spPr>
          <a:xfrm>
            <a:off x="548640" y="312267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sp>
        <p:nvSpPr>
          <p:cNvPr id="938" name="Google Shape;938;p33"/>
          <p:cNvSpPr txBox="1"/>
          <p:nvPr/>
        </p:nvSpPr>
        <p:spPr>
          <a:xfrm>
            <a:off x="1143000" y="301752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Resnick, P., Zeckhauser, R., Friedman, E., &amp; Kuwabara, K. (2000). Reputation systems. Communications of the ACM, 43(12), 45–48.</a:t>
            </a:r>
            <a:endParaRPr/>
          </a:p>
        </p:txBody>
      </p:sp>
      <p:sp>
        <p:nvSpPr>
          <p:cNvPr id="939" name="Google Shape;939;p33"/>
          <p:cNvSpPr/>
          <p:nvPr/>
        </p:nvSpPr>
        <p:spPr>
          <a:xfrm>
            <a:off x="548640" y="3854196"/>
            <a:ext cx="384048" cy="384048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3"/>
          <p:cNvSpPr txBox="1"/>
          <p:nvPr/>
        </p:nvSpPr>
        <p:spPr>
          <a:xfrm>
            <a:off x="548640" y="38541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/>
          </a:p>
        </p:txBody>
      </p:sp>
      <p:sp>
        <p:nvSpPr>
          <p:cNvPr id="941" name="Google Shape;941;p33"/>
          <p:cNvSpPr txBox="1"/>
          <p:nvPr/>
        </p:nvSpPr>
        <p:spPr>
          <a:xfrm>
            <a:off x="1143000" y="374904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Jap, S. D. (2002). Online reverse auctions: Issues, themes, and prospects for the future. Journal of the Academy of Marketing Science, 30(4), 506–525.</a:t>
            </a:r>
            <a:endParaRPr/>
          </a:p>
        </p:txBody>
      </p:sp>
      <p:sp>
        <p:nvSpPr>
          <p:cNvPr id="942" name="Google Shape;942;p33"/>
          <p:cNvSpPr/>
          <p:nvPr/>
        </p:nvSpPr>
        <p:spPr>
          <a:xfrm>
            <a:off x="548640" y="4585716"/>
            <a:ext cx="384048" cy="384048"/>
          </a:xfrm>
          <a:prstGeom prst="ellipse">
            <a:avLst/>
          </a:prstGeom>
          <a:solidFill>
            <a:srgbClr val="5C40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3"/>
          <p:cNvSpPr txBox="1"/>
          <p:nvPr/>
        </p:nvSpPr>
        <p:spPr>
          <a:xfrm>
            <a:off x="548640" y="45857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/>
          </a:p>
        </p:txBody>
      </p:sp>
      <p:sp>
        <p:nvSpPr>
          <p:cNvPr id="944" name="Google Shape;944;p33"/>
          <p:cNvSpPr txBox="1"/>
          <p:nvPr/>
        </p:nvSpPr>
        <p:spPr>
          <a:xfrm>
            <a:off x="1143000" y="448056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Pavlou, P. A., &amp; Gefen, D. (2004). Building effective online marketplaces with institution-based trust. Information Systems Research, 15(1), 37–59.</a:t>
            </a:r>
            <a:endParaRPr/>
          </a:p>
        </p:txBody>
      </p:sp>
      <p:sp>
        <p:nvSpPr>
          <p:cNvPr id="945" name="Google Shape;945;p33"/>
          <p:cNvSpPr/>
          <p:nvPr/>
        </p:nvSpPr>
        <p:spPr>
          <a:xfrm>
            <a:off x="548640" y="5317236"/>
            <a:ext cx="384048" cy="384048"/>
          </a:xfrm>
          <a:prstGeom prst="ellipse">
            <a:avLst/>
          </a:prstGeom>
          <a:solidFill>
            <a:srgbClr val="B565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3"/>
          <p:cNvSpPr txBox="1"/>
          <p:nvPr/>
        </p:nvSpPr>
        <p:spPr>
          <a:xfrm>
            <a:off x="548640" y="53172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/>
          </a:p>
        </p:txBody>
      </p:sp>
      <p:sp>
        <p:nvSpPr>
          <p:cNvPr id="947" name="Google Shape;947;p33"/>
          <p:cNvSpPr txBox="1"/>
          <p:nvPr/>
        </p:nvSpPr>
        <p:spPr>
          <a:xfrm>
            <a:off x="1143000" y="5212080"/>
            <a:ext cx="10424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3A2A20"/>
                </a:solidFill>
                <a:latin typeface="Calibri"/>
                <a:ea typeface="Calibri"/>
                <a:cs typeface="Calibri"/>
                <a:sym typeface="Calibri"/>
              </a:rPr>
              <a:t>Montgomery, A. L., Hosanagar, K., Krishnan, R., &amp; Clay, K. B. (2004). Designing a better shopbot. Management Science, 50(2), 189–206.</a:t>
            </a:r>
            <a:endParaRPr/>
          </a:p>
        </p:txBody>
      </p:sp>
      <p:sp>
        <p:nvSpPr>
          <p:cNvPr id="948" name="Google Shape;948;p3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0" spcFirstLastPara="1" rIns="0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7566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C4033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34"/>
          <p:cNvSpPr/>
          <p:nvPr/>
        </p:nvSpPr>
        <p:spPr>
          <a:xfrm>
            <a:off x="-1463040" y="-1737360"/>
            <a:ext cx="4206240" cy="4206240"/>
          </a:xfrm>
          <a:prstGeom prst="ellipse">
            <a:avLst/>
          </a:prstGeom>
          <a:solidFill>
            <a:srgbClr val="4A33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4"/>
          <p:cNvSpPr/>
          <p:nvPr/>
        </p:nvSpPr>
        <p:spPr>
          <a:xfrm>
            <a:off x="9784080" y="4297680"/>
            <a:ext cx="3749040" cy="3749040"/>
          </a:xfrm>
          <a:prstGeom prst="ellipse">
            <a:avLst/>
          </a:prstGeom>
          <a:solidFill>
            <a:srgbClr val="C9A184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4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4"/>
          <p:cNvSpPr/>
          <p:nvPr/>
        </p:nvSpPr>
        <p:spPr>
          <a:xfrm>
            <a:off x="0" y="3291840"/>
            <a:ext cx="12188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184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C9A184"/>
                </a:solidFill>
                <a:latin typeface="Calibri"/>
                <a:ea typeface="Calibri"/>
                <a:cs typeface="Calibri"/>
                <a:sym typeface="Calibri"/>
              </a:rPr>
              <a:t>Questions &amp; Suggestions?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4"/>
          <p:cNvSpPr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B3A2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8B3A2"/>
                </a:solidFill>
                <a:latin typeface="Calibri"/>
                <a:ea typeface="Calibri"/>
                <a:cs typeface="Calibri"/>
                <a:sym typeface="Calibri"/>
              </a:rPr>
              <a:t>Baiskit  ·  baiskitnew.vercel.app  ·  </a:t>
            </a:r>
            <a:r>
              <a:rPr lang="en-US" sz="1100">
                <a:solidFill>
                  <a:srgbClr val="C8B3A2"/>
                </a:solidFill>
                <a:latin typeface="Calibri"/>
                <a:ea typeface="Calibri"/>
                <a:cs typeface="Calibri"/>
                <a:sym typeface="Calibri"/>
              </a:rPr>
              <a:t>https://github.com/TapishUpadhyay/baiskit.git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3D2C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3D2C3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